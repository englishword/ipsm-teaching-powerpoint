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 页｜IPS 音形统一</a:t>
            </a:r>
          </a:p>
          <a:p/>
          <a:p>
            <a:r>
              <a:t>建议用时：1 分钟</a:t>
            </a:r>
          </a:p>
          <a:p/>
          <a:p>
            <a:r>
              <a:t>讲解步骤：先读 name，再指出上方的横线。告诉学生本课不要求先学会 IPA。</a:t>
            </a:r>
          </a:p>
          <a:p/>
          <a:p>
            <a:r>
              <a:t>课堂提问：标注后，单词字母顺序改变了吗？</a:t>
            </a:r>
          </a:p>
          <a:p/>
          <a:p>
            <a:r>
              <a:t>参考答案：没有。n、a、m、e 的拼写仍然保留。</a:t>
            </a:r>
          </a:p>
          <a:p/>
          <a:p>
            <a:r>
              <a:t>来源：04-ips-notation.md：导言；05-ips-approach.md：导言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2 页｜本课的学习目标</a:t>
            </a:r>
          </a:p>
          <a:p/>
          <a:p>
            <a:r>
              <a:t>建议用时：2 分钟</a:t>
            </a:r>
          </a:p>
          <a:p/>
          <a:p>
            <a:r>
              <a:t>讲解步骤：介绍两课时结构。目标是学会作者体系的使用方式，不要求一次背完所有附录。</a:t>
            </a:r>
          </a:p>
          <a:p/>
          <a:p>
            <a:r>
              <a:t>课堂提问：今天需要先背完国际音标吗？</a:t>
            </a:r>
          </a:p>
          <a:p/>
          <a:p>
            <a:r>
              <a:t>参考答案：不需要。IPA 只在参考附录出现。</a:t>
            </a:r>
          </a:p>
          <a:p/>
          <a:p>
            <a:r>
              <a:t>来源：04-ips-notation.md：导言；05-ips-approach.md：导言、英语单词发音规则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3 页｜一个词的音、形、意</a:t>
            </a:r>
          </a:p>
          <a:p/>
          <a:p>
            <a:r>
              <a:t>建议用时：2 分钟</a:t>
            </a:r>
          </a:p>
          <a:p/>
          <a:p>
            <a:r>
              <a:t>讲解步骤：示范先听读、再看拼写、最后理解语境。每次练习都回到同一个词的三个属性。</a:t>
            </a:r>
          </a:p>
          <a:p/>
          <a:p>
            <a:r>
              <a:t>课堂提问：只记住中文意思，是否完成音形意练习？</a:t>
            </a:r>
          </a:p>
          <a:p/>
          <a:p>
            <a:r>
              <a:t>参考答案：没有，还要能读出并回忆拼写。</a:t>
            </a:r>
          </a:p>
          <a:p/>
          <a:p>
            <a:r>
              <a:t>来源：05-ips-approach.md：导言；04-ips-notation.md：元音字母——A E I O U／开音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4 页｜字母名称与词中读音</a:t>
            </a:r>
          </a:p>
          <a:p/>
          <a:p>
            <a:r>
              <a:t>建议用时：2 分钟</a:t>
            </a:r>
          </a:p>
          <a:p/>
          <a:p>
            <a:r>
              <a:t>讲解步骤：先复习字母表，再用 big、jeep、yes 示范词中读音。ch 不按汉语拼音 ch 读。</a:t>
            </a:r>
          </a:p>
          <a:p/>
          <a:p>
            <a:r>
              <a:t>课堂提问：本文的 [j] 和字母 y 在 yes 中的音相同吗？</a:t>
            </a:r>
          </a:p>
          <a:p/>
          <a:p>
            <a:r>
              <a:t>参考答案：不同。[j] 用 jeep 示范；[y] 用 yes 示范。</a:t>
            </a:r>
          </a:p>
          <a:p/>
          <a:p>
            <a:r>
              <a:t>来源：04-ips-notation.md：辅音字母与常见辅音、辅音字母；05-ips-approach.md：辅音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5 页｜四类基础标注</a:t>
            </a:r>
          </a:p>
          <a:p/>
          <a:p>
            <a:r>
              <a:t>建议用时：2 分钟</a:t>
            </a:r>
          </a:p>
          <a:p/>
          <a:p>
            <a:r>
              <a:t>讲解步骤：先只辨形，不一次讲完所有音值。让学生指认横线、点、圈和无标记。</a:t>
            </a:r>
          </a:p>
          <a:p/>
          <a:p>
            <a:r>
              <a:t>课堂提问：bėgin 与 åbout 中，标记形状分别是什么？</a:t>
            </a:r>
          </a:p>
          <a:p/>
          <a:p>
            <a:r>
              <a:t>参考答案：圆点与圆圈。</a:t>
            </a:r>
          </a:p>
          <a:p/>
          <a:p>
            <a:r>
              <a:t>来源：04-ips-notation.md：导言、元音字母——A E I O U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原文边界与疑点：“不标”是基础闭音的写法，但元音组合、辅音和省略标注另有规则。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6 页｜开音：字母上方的横线</a:t>
            </a:r>
          </a:p>
          <a:p/>
          <a:p>
            <a:r>
              <a:t>建议用时：2 分钟</a:t>
            </a:r>
          </a:p>
          <a:p/>
          <a:p>
            <a:r>
              <a:t>讲解步骤：按列带读，突出标记所在元音。先用五个原文示例，不提前推导所有 u 的情况。</a:t>
            </a:r>
          </a:p>
          <a:p/>
          <a:p>
            <a:r>
              <a:t>课堂提问：līke 的横线标在哪一个字母上？</a:t>
            </a:r>
          </a:p>
          <a:p/>
          <a:p>
            <a:r>
              <a:t>参考答案：i。</a:t>
            </a:r>
          </a:p>
          <a:p/>
          <a:p>
            <a:r>
              <a:t>来源：04-ips-notation.md：元音字母——A E I O U／开音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原文边界与疑点：u 的细分情况见原文基本元音脚注；本页使用原文例词，不归纳为所有 u 都相同。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7 页｜闭音：基础写法不加标记</a:t>
            </a:r>
          </a:p>
          <a:p/>
          <a:p>
            <a:r>
              <a:t>建议用时：2 分钟</a:t>
            </a:r>
          </a:p>
          <a:p/>
          <a:p>
            <a:r>
              <a:t>讲解步骤：先教师读，再随机指词让学生读。这里的不标记对应本页的基础元音。</a:t>
            </a:r>
          </a:p>
          <a:p/>
          <a:p>
            <a:r>
              <a:t>课堂提问：bed 中的 e 在这一页属于哪类？</a:t>
            </a:r>
          </a:p>
          <a:p/>
          <a:p>
            <a:r>
              <a:t>参考答案：闭音。</a:t>
            </a:r>
          </a:p>
          <a:p/>
          <a:p>
            <a:r>
              <a:t>来源：04-ips-notation.md：元音字母——A E I O U／闭音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8 页｜开音与闭音对照</a:t>
            </a:r>
          </a:p>
          <a:p/>
          <a:p>
            <a:r>
              <a:t>建议用时：3 分钟</a:t>
            </a:r>
          </a:p>
          <a:p/>
          <a:p>
            <a:r>
              <a:t>讲解步骤：先带读每一对，再用手遮住词尾 e 观察词形。强调具体例词，不把末尾 e 当成无例外的保证。</a:t>
            </a:r>
          </a:p>
          <a:p/>
          <a:p>
            <a:r>
              <a:t>课堂提问：hāte 的词尾 e 在本例中是否单独发音？</a:t>
            </a:r>
          </a:p>
          <a:p/>
          <a:p>
            <a:r>
              <a:t>参考答案：不单独发音；a 标为开音。</a:t>
            </a:r>
          </a:p>
          <a:p/>
          <a:p>
            <a:r>
              <a:t>来源：04-ips-notation.md：开音、闭音；05-ips-approach.md：开音节与闭音节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原文边界与疑点：rid 为补充示例。have 等词不符合简单套用规则的结果，后文讨论。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9 页｜轻音：元音上方的点</a:t>
            </a:r>
          </a:p>
          <a:p/>
          <a:p>
            <a:r>
              <a:t>建议用时：2 分钟</a:t>
            </a:r>
          </a:p>
          <a:p/>
          <a:p>
            <a:r>
              <a:t>讲解步骤：先对比点和圈的形状，再示范 image、begin、busy。i 本身的点与额外注音不要混为一谈。</a:t>
            </a:r>
          </a:p>
          <a:p/>
          <a:p>
            <a:r>
              <a:t>课堂提问：为什么轻音不能简单理解为“完全不重读”？</a:t>
            </a:r>
          </a:p>
          <a:p/>
          <a:p>
            <a:r>
              <a:t>参考答案：原文说明轻音既可看作重音，也可看作弱音。</a:t>
            </a:r>
          </a:p>
          <a:p/>
          <a:p>
            <a:r>
              <a:t>来源：04-ips-notation.md：轻音、I和U的替身；05-ips-approach.md：轻音说明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原文边界与疑点：保留原文 /i/ 写法，不将其替换成新版 IPA。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10 页｜弱音：元音上方的圈</a:t>
            </a:r>
          </a:p>
          <a:p/>
          <a:p>
            <a:r>
              <a:t>建议用时：2 分钟</a:t>
            </a:r>
          </a:p>
          <a:p/>
          <a:p>
            <a:r>
              <a:t>讲解步骤：先教师带读，让学生把注意力放在加圈字母。暂不把“弱音”扩大成所有带 r 的情况。</a:t>
            </a:r>
          </a:p>
          <a:p/>
          <a:p>
            <a:r>
              <a:t>课堂提问：åbout 的圈标在第几个元音字母上？</a:t>
            </a:r>
          </a:p>
          <a:p/>
          <a:p>
            <a:r>
              <a:t>参考答案：第一个 a 上。</a:t>
            </a:r>
          </a:p>
          <a:p/>
          <a:p>
            <a:r>
              <a:t>来源：04-ips-notation.md：弱音；05-ips-approach.md：弱音说明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原文边界与疑点：open、evil 的实际语音可有不同分析，本课保留原文标注。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11 页｜同一个词中的不同元音</a:t>
            </a:r>
          </a:p>
          <a:p/>
          <a:p>
            <a:r>
              <a:t>建议用时：3 分钟</a:t>
            </a:r>
          </a:p>
          <a:p/>
          <a:p>
            <a:r>
              <a:t>讲解步骤：让学生先圈出所有元音，再指出原文实际标注的位置。说明局部示例不等于每个字母都已完整标音。</a:t>
            </a:r>
          </a:p>
          <a:p/>
          <a:p>
            <a:r>
              <a:t>课堂提问：ope̊n 的圆圈属于 o 还是 e？</a:t>
            </a:r>
          </a:p>
          <a:p/>
          <a:p>
            <a:r>
              <a:t>参考答案：属于 e。</a:t>
            </a:r>
          </a:p>
          <a:p/>
          <a:p>
            <a:r>
              <a:t>来源：04-ips-notation.md：轻音、弱音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原文边界与疑点：不据这些局部示例直接推断整词重音。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12 页｜基础标注小练习</a:t>
            </a:r>
          </a:p>
          <a:p/>
          <a:p>
            <a:r>
              <a:t>建议用时：2 分钟</a:t>
            </a:r>
          </a:p>
          <a:p/>
          <a:p>
            <a:r>
              <a:t>讲解步骤：给学生 30 秒独立判断，随后同桌互说，最后教师反馈。</a:t>
            </a:r>
          </a:p>
          <a:p/>
          <a:p>
            <a:r>
              <a:t>课堂提问：四个词分别示范哪一类？</a:t>
            </a:r>
          </a:p>
          <a:p/>
          <a:p>
            <a:r>
              <a:t>参考答案：nāme：开；bat：闭；bėgin 的 ė：轻；åbout 的 å：弱。</a:t>
            </a:r>
          </a:p>
          <a:p/>
          <a:p>
            <a:r>
              <a:t>来源：04-ips-notation.md：开音、闭音、轻音、弱音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13 页｜两个元音字母的组合</a:t>
            </a:r>
          </a:p>
          <a:p/>
          <a:p>
            <a:r>
              <a:t>建议用时：2 分钟</a:t>
            </a:r>
          </a:p>
          <a:p/>
          <a:p>
            <a:r>
              <a:t>讲解步骤：使用 rain 和 boat 示范完整观察过程。不要把其中另一个元音直接划成不发音，原文把组合视作共同发音。</a:t>
            </a:r>
          </a:p>
          <a:p/>
          <a:p>
            <a:r>
              <a:t>课堂提问：fiēld 的横线落在 i 还是 e？</a:t>
            </a:r>
          </a:p>
          <a:p/>
          <a:p>
            <a:r>
              <a:t>参考答案：e。</a:t>
            </a:r>
          </a:p>
          <a:p/>
          <a:p>
            <a:r>
              <a:t>来源：04-ips-notation.md：两个元音字母组合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14 页｜同样的组合，标记可以不同</a:t>
            </a:r>
          </a:p>
          <a:p/>
          <a:p>
            <a:r>
              <a:t>建议用时：2 分钟</a:t>
            </a:r>
          </a:p>
          <a:p/>
          <a:p>
            <a:r>
              <a:t>讲解步骤：先读 meat、great、bread，再分别指出横线或长捺。</a:t>
            </a:r>
          </a:p>
          <a:p/>
          <a:p>
            <a:r>
              <a:t>课堂提问：mēat 与 greāt 的横线位置相同吗？</a:t>
            </a:r>
          </a:p>
          <a:p/>
          <a:p>
            <a:r>
              <a:t>参考答案：不同，分别在 e 和 a 上。</a:t>
            </a:r>
          </a:p>
          <a:p/>
          <a:p>
            <a:r>
              <a:t>来源：04-ips-notation.md：有多种发音的元音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15 页｜需要单独记忆的元音组合</a:t>
            </a:r>
          </a:p>
          <a:p/>
          <a:p>
            <a:r>
              <a:t>建议用时：2 分钟</a:t>
            </a:r>
          </a:p>
          <a:p/>
          <a:p>
            <a:r>
              <a:t>讲解步骤：解释这三组不能只按前一个或后一个字母的开音处理。</a:t>
            </a:r>
          </a:p>
          <a:p/>
          <a:p>
            <a:r>
              <a:t>课堂提问：moon 和 book 能仅因都有 oo 就直接判为同音吗？</a:t>
            </a:r>
          </a:p>
          <a:p/>
          <a:p>
            <a:r>
              <a:t>参考答案：不能。原文为 oo 列出了不同情况。</a:t>
            </a:r>
          </a:p>
          <a:p/>
          <a:p>
            <a:r>
              <a:t>来源：04-ips-notation.md：两个元音字母组合、有多种发音的元音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16 页｜多音时增加的三个符号</a:t>
            </a:r>
          </a:p>
          <a:p/>
          <a:p>
            <a:r>
              <a:t>建议用时：2 分钟</a:t>
            </a:r>
          </a:p>
          <a:p/>
          <a:p>
            <a:r>
              <a:t>讲解步骤：每个符号读一组原文例词。说明这些写法是作者的区分手段。</a:t>
            </a:r>
          </a:p>
          <a:p/>
          <a:p>
            <a:r>
              <a:t>课堂提问：sôme 中的尖角落在哪个字母上？</a:t>
            </a:r>
          </a:p>
          <a:p/>
          <a:p>
            <a:r>
              <a:t>参考答案：o。</a:t>
            </a:r>
          </a:p>
          <a:p/>
          <a:p>
            <a:r>
              <a:t>来源：04-ips-notation.md：有多种发音的元音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原文边界与疑点：fàst 受口音影响，忠实沿用原文例子；英美差异另见附录。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17 页｜Y 作为 I 的替身</a:t>
            </a:r>
          </a:p>
          <a:p/>
          <a:p>
            <a:r>
              <a:t>建议用时：2 分钟</a:t>
            </a:r>
          </a:p>
          <a:p/>
          <a:p>
            <a:r>
              <a:t>讲解步骤：不把所有 y 都归为元音。回顾 yes 中词首 y 的辅音用途。</a:t>
            </a:r>
          </a:p>
          <a:p/>
          <a:p>
            <a:r>
              <a:t>课堂提问：fly 中的 y 与 yes 中的 y，本文用途一样吗？</a:t>
            </a:r>
          </a:p>
          <a:p/>
          <a:p>
            <a:r>
              <a:t>参考答案：不一样。flȳ 中 y 是元音替身，yes 中 y 作辅音。</a:t>
            </a:r>
          </a:p>
          <a:p/>
          <a:p>
            <a:r>
              <a:t>来源：04-ips-notation.md：I和U的替身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18 页｜W 作为 U 的替身</a:t>
            </a:r>
          </a:p>
          <a:p/>
          <a:p>
            <a:r>
              <a:t>建议用时：2 分钟</a:t>
            </a:r>
          </a:p>
          <a:p/>
          <a:p>
            <a:r>
              <a:t>讲解步骤：重点对比 slow 与 cow 的标记，先跟读再说差别。</a:t>
            </a:r>
          </a:p>
          <a:p/>
          <a:p>
            <a:r>
              <a:t>课堂提问：slōw 与 còw 哪个用横线，哪个用长捺？</a:t>
            </a:r>
          </a:p>
          <a:p/>
          <a:p>
            <a:r>
              <a:t>参考答案：slōw 用横线，còw 用长捺。</a:t>
            </a:r>
          </a:p>
          <a:p/>
          <a:p>
            <a:r>
              <a:t>来源：04-ips-notation.md：I和U的替身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19 页｜第一课综合练习</a:t>
            </a:r>
          </a:p>
          <a:p/>
          <a:p>
            <a:r>
              <a:t>建议用时：4 分钟</a:t>
            </a:r>
          </a:p>
          <a:p/>
          <a:p>
            <a:r>
              <a:t>讲解步骤：先给 1 分钟观察和作答，再同桌轮流解释。教师不要提前读出分类答案。</a:t>
            </a:r>
          </a:p>
          <a:p/>
          <a:p>
            <a:r>
              <a:t>课堂提问：按本页三个问题逐项作答。</a:t>
            </a:r>
          </a:p>
          <a:p/>
          <a:p>
            <a:r>
              <a:t>参考答案：横线主导的组合是 rāin、mēat；flȳ 含 y 替身，còw 含 w 替身；åbout 使用圆圈。brèad 使用长捺。</a:t>
            </a:r>
          </a:p>
          <a:p/>
          <a:p>
            <a:r>
              <a:t>来源：04-ips-notation.md：元音组合、多音、I和U的替身、弱音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第一课｜第 20 页｜第一课练习讲解</a:t>
            </a:r>
          </a:p>
          <a:p/>
          <a:p>
            <a:r>
              <a:t>建议用时：3 分钟</a:t>
            </a:r>
          </a:p>
          <a:p/>
          <a:p>
            <a:r>
              <a:t>讲解步骤：让学生先复述一组答案，再教师带读。用最后一分钟回顾基础四类标注。</a:t>
            </a:r>
          </a:p>
          <a:p/>
          <a:p>
            <a:r>
              <a:t>课堂提问：只说“有符号”是否足够？</a:t>
            </a:r>
          </a:p>
          <a:p/>
          <a:p>
            <a:r>
              <a:t>参考答案：还要说明符号的形状、位置及本文类别。</a:t>
            </a:r>
          </a:p>
          <a:p/>
          <a:p>
            <a:r>
              <a:t>来源：04-ips-notation.md：对应各节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21 页｜第二课：重音与读音</a:t>
            </a:r>
          </a:p>
          <a:p/>
          <a:p>
            <a:r>
              <a:t>建议用时：2 分钟</a:t>
            </a:r>
          </a:p>
          <a:p/>
          <a:p>
            <a:r>
              <a:t>讲解步骤：重新建立准确读音是起点。comment/command 原样展示，不将省略标注的部分自行补全。record 的重音示范只作为原文说明。</a:t>
            </a:r>
          </a:p>
          <a:p/>
          <a:p>
            <a:r>
              <a:t>课堂提问：原文为什么对 com 作不同标注？</a:t>
            </a:r>
          </a:p>
          <a:p/>
          <a:p>
            <a:r>
              <a:t>参考答案：原文以重音位置不同解释其读音不同。</a:t>
            </a:r>
          </a:p>
          <a:p/>
          <a:p>
            <a:r>
              <a:t>来源：05-ips-approach.md：重音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原文边界与疑点：“重音由元音类型自动区分”是原文方法主张，其适用范围待核验。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22 页｜四类标注与重弱顺序</a:t>
            </a:r>
          </a:p>
          <a:p/>
          <a:p>
            <a:r>
              <a:t>建议用时：3 分钟</a:t>
            </a:r>
          </a:p>
          <a:p/>
          <a:p>
            <a:r>
              <a:t>讲解步骤：重点停在长弱音这一行。第一课的圈标只是入门识别，第二课需结合 r 的环境看作者怎样分类。</a:t>
            </a:r>
          </a:p>
          <a:p/>
          <a:p>
            <a:r>
              <a:t>课堂提问：长弱音在原文顺序表中属于重读还是弱读？</a:t>
            </a:r>
          </a:p>
          <a:p/>
          <a:p>
            <a:r>
              <a:t>参考答案：重读。</a:t>
            </a:r>
          </a:p>
          <a:p/>
          <a:p>
            <a:r>
              <a:t>来源：05-ips-approach.md：基本元音、重弱交替／元音重弱顺序表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原文边界与疑点：这是原文分类，不把“长弱”替换成通用语音学术语。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23 页｜重弱交替的观察方法</a:t>
            </a:r>
          </a:p>
          <a:p/>
          <a:p>
            <a:r>
              <a:t>建议用时：2 分钟</a:t>
            </a:r>
          </a:p>
          <a:p/>
          <a:p>
            <a:r>
              <a:t>讲解步骤：用已学的 about、begin 回顾轻弱标记，不要求学生从陌生拼写猜出唯一重音。</a:t>
            </a:r>
          </a:p>
          <a:p/>
          <a:p>
            <a:r>
              <a:t>课堂提问：遇到陌生词，第一步是强行交替还是先确认读音？</a:t>
            </a:r>
          </a:p>
          <a:p/>
          <a:p>
            <a:r>
              <a:t>参考答案：先确认读音，再按本文方法分析。</a:t>
            </a:r>
          </a:p>
          <a:p/>
          <a:p>
            <a:r>
              <a:t>来源：05-ips-approach.md：重音、重弱交替、英语单词发音规则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原文边界与疑点：原文“绝大多数”“80%以上”等主张未提供可核对的统计依据，见疑点附录。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24 页｜开闭音节的判断线索</a:t>
            </a:r>
          </a:p>
          <a:p/>
          <a:p>
            <a:r>
              <a:t>建议用时：2 分钟</a:t>
            </a:r>
          </a:p>
          <a:p/>
          <a:p>
            <a:r>
              <a:t>讲解步骤：逐行读表。提醒这只是作者对原文例词的归类，不能直接外推所有词。</a:t>
            </a:r>
          </a:p>
          <a:p/>
          <a:p>
            <a:r>
              <a:t>课堂提问：net 按此表落在哪一类？</a:t>
            </a:r>
          </a:p>
          <a:p/>
          <a:p>
            <a:r>
              <a:t>参考答案：闭音节。</a:t>
            </a:r>
          </a:p>
          <a:p/>
          <a:p>
            <a:r>
              <a:t>来源：05-ips-approach.md：开音节与闭音节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25 页｜规则之外的情况</a:t>
            </a:r>
          </a:p>
          <a:p/>
          <a:p>
            <a:r>
              <a:t>建议用时：2 分钟</a:t>
            </a:r>
          </a:p>
          <a:p/>
          <a:p>
            <a:r>
              <a:t>讲解步骤：告诉学生遇到矛盾应回到具体例词和原文限定。不要让学生背成“所有两个辅音一定闭音”。</a:t>
            </a:r>
          </a:p>
          <a:p/>
          <a:p>
            <a:r>
              <a:t>课堂提问：看到不吻合的例词，该如何处理？</a:t>
            </a:r>
          </a:p>
          <a:p/>
          <a:p>
            <a:r>
              <a:t>参考答案：确认读音，单独记录，不强套简化线索。</a:t>
            </a:r>
          </a:p>
          <a:p/>
          <a:p>
            <a:r>
              <a:t>来源：05-ips-approach.md：开音节与闭音节及脚注、英语单词发音规则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26 页｜元音与 R 结合</a:t>
            </a:r>
          </a:p>
          <a:p/>
          <a:p>
            <a:r>
              <a:t>建议用时：2 分钟</a:t>
            </a:r>
          </a:p>
          <a:p/>
          <a:p>
            <a:r>
              <a:t>讲解步骤：先读元音字母，再读完整例词，让学生听到组合后的效果。本页不要求 IPA 推导。</a:t>
            </a:r>
          </a:p>
          <a:p/>
          <a:p>
            <a:r>
              <a:t>课堂提问：为什么不能把 cāre 只按孤立 ā 来读？</a:t>
            </a:r>
          </a:p>
          <a:p/>
          <a:p>
            <a:r>
              <a:t>参考答案：原文认为后面的 R 会使元音发生变化。</a:t>
            </a:r>
          </a:p>
          <a:p/>
          <a:p>
            <a:r>
              <a:t>来源：04-ips-notation.md：元音字母+R／开音+R；05-ips-approach.md：流音与强元音的结合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原文边界与疑点：原文把卷舌解释与英式 IPA 放在同一体系，口音边界见附录。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27 页｜长弱音、短弱音与流音</a:t>
            </a:r>
          </a:p>
          <a:p/>
          <a:p>
            <a:r>
              <a:t>建议用时：2 分钟</a:t>
            </a:r>
          </a:p>
          <a:p/>
          <a:p>
            <a:r>
              <a:t>讲解步骤：用 bird、burn 联系第22页，再回到 about。关于流音及长音短化只说明原文观察，不演绎为普遍因果定律。</a:t>
            </a:r>
          </a:p>
          <a:p/>
          <a:p>
            <a:r>
              <a:t>课堂提问：bi̊rd 名称中有“弱”，是否意味着整词必须弱读？</a:t>
            </a:r>
          </a:p>
          <a:p/>
          <a:p>
            <a:r>
              <a:t>参考答案：不是。按原文它属于长弱音，在表中可重读。</a:t>
            </a:r>
          </a:p>
          <a:p/>
          <a:p>
            <a:r>
              <a:t>来源：05-ips-approach.md：弱音说明、重弱交替、流音；04-ips-notation.md：弱音+R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原文边界与疑点：原文的 R、L 与长音短化解释按作者观点呈现。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28 页｜元音字母窜位</a:t>
            </a:r>
          </a:p>
          <a:p/>
          <a:p>
            <a:r>
              <a:t>建议用时：2 分钟</a:t>
            </a:r>
          </a:p>
          <a:p/>
          <a:p>
            <a:r>
              <a:t>讲解步骤：把本页与第16页符号联系起来。表中有些原文例词未全标注，保留其原状。</a:t>
            </a:r>
          </a:p>
          <a:p/>
          <a:p>
            <a:r>
              <a:t>课堂提问：lôve 中哪个字母承担作者所说的 U 类读音？</a:t>
            </a:r>
          </a:p>
          <a:p/>
          <a:p>
            <a:r>
              <a:t>参考答案：o。</a:t>
            </a:r>
          </a:p>
          <a:p/>
          <a:p>
            <a:r>
              <a:t>来源：05-ips-approach.md：元音字母窜位；04-ips-notation.md：多音元音、替身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29 页｜辅音组合的整体拼读</a:t>
            </a:r>
          </a:p>
          <a:p/>
          <a:p>
            <a:r>
              <a:t>建议用时：2 分钟</a:t>
            </a:r>
          </a:p>
          <a:p/>
          <a:p>
            <a:r>
              <a:t>讲解步骤：使用 slow、train 等带读。不要将原文对 fl、fr、tw 的意义联想当成单词词义推导规则。</a:t>
            </a:r>
          </a:p>
          <a:p/>
          <a:p>
            <a:r>
              <a:t>课堂提问：trāin 中横线标在哪个字母上？前面是什么组合？</a:t>
            </a:r>
          </a:p>
          <a:p/>
          <a:p>
            <a:r>
              <a:t>参考答案：a 上，前面是 tr。</a:t>
            </a:r>
          </a:p>
          <a:p/>
          <a:p>
            <a:r>
              <a:t>来源：04-ips-notation.md：辅音组合；05-ips-approach.md：辅音组合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原文边界与疑点：不添加元音为课堂发音提示；辅音组合的语义联想仅为原文作者经验。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30 页｜不发音字母的标示</a:t>
            </a:r>
          </a:p>
          <a:p/>
          <a:p>
            <a:r>
              <a:t>建议用时：2 分钟</a:t>
            </a:r>
          </a:p>
          <a:p/>
          <a:p>
            <a:r>
              <a:t>讲解步骤：读例词时指出静音字母，拼写时仍逐字保留。对 namely 只展示原文局部静音标记，不补全发音。</a:t>
            </a:r>
          </a:p>
          <a:p/>
          <a:p>
            <a:r>
              <a:t>课堂提问：读 knife 时不读 k，默写时要不要写 k？</a:t>
            </a:r>
          </a:p>
          <a:p/>
          <a:p>
            <a:r>
              <a:t>参考答案：要写。标记提示读音，不删除拼写。</a:t>
            </a:r>
          </a:p>
          <a:p/>
          <a:p>
            <a:r>
              <a:t>来源：04-ips-notation.md：不发音字母；05-ips-approach.md：不发音元音、不发音辅音字母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原文边界与疑点：原文“不发音元音”部分的普遍化表述与疑似拼写问题单列附录。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31 页｜-ed 与 -s/-es 的读音</a:t>
            </a:r>
          </a:p>
          <a:p/>
          <a:p>
            <a:r>
              <a:t>建议用时：3 分钟</a:t>
            </a:r>
          </a:p>
          <a:p/>
          <a:p>
            <a:r>
              <a:t>讲解步骤：依原文表格先处理 t/d 与咝擦音等特殊组，避免广义“浊音后 d”覆盖 d 本身。板书读音后再让学生读例词。</a:t>
            </a:r>
          </a:p>
          <a:p/>
          <a:p>
            <a:r>
              <a:t>课堂提问：wanted 与 helped 的 -ed 在本文中如何区分？</a:t>
            </a:r>
          </a:p>
          <a:p/>
          <a:p>
            <a:r>
              <a:t>参考答案：wanted 为 [id]，helped 为 [t]。</a:t>
            </a:r>
          </a:p>
          <a:p/>
          <a:p>
            <a:r>
              <a:t>来源：04-ips-notation.md：常见后缀发音；05-ips-approach.md：常见后缀发音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原文边界与疑点：表中的 [id]、[iz] 沿用原文写法。counted 在原文归类的位置有疑点，练习不采用。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32 页｜完整示范：记住 rain</a:t>
            </a:r>
          </a:p>
          <a:p/>
          <a:p>
            <a:r>
              <a:t>建议用时：3 分钟</a:t>
            </a:r>
          </a:p>
          <a:p/>
          <a:p>
            <a:r>
              <a:t>讲解步骤：先读 rain，学生跟读。展示标注并解释组合，读例句理解词义，最后遮住课件让学生回忆拼写。</a:t>
            </a:r>
          </a:p>
          <a:p/>
          <a:p>
            <a:r>
              <a:t>课堂提问：只记住 rāi，漏掉 n，完成了吗？</a:t>
            </a:r>
          </a:p>
          <a:p/>
          <a:p>
            <a:r>
              <a:t>参考答案：没有。音形意记忆要保留完整拼写。</a:t>
            </a:r>
          </a:p>
          <a:p/>
          <a:p>
            <a:r>
              <a:t>来源：04-ips-notation.md：两个元音字母组合／AI；05-ips-approach.md：导言、英语单词发音规则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33 页｜完整示范：记住 about</a:t>
            </a:r>
          </a:p>
          <a:p/>
          <a:p>
            <a:r>
              <a:t>建议用时：3 分钟</a:t>
            </a:r>
          </a:p>
          <a:p/>
          <a:p>
            <a:r>
              <a:t>讲解步骤：先读 about，再强调第一元音的放松。与 rain 连接成简短语境，最后去掉标注复述。</a:t>
            </a:r>
          </a:p>
          <a:p/>
          <a:p>
            <a:r>
              <a:t>课堂提问：本例中，圆圈是否意味着字母 a 被删掉？</a:t>
            </a:r>
          </a:p>
          <a:p/>
          <a:p>
            <a:r>
              <a:t>参考答案：不意味着删掉，拼写仍然保留。</a:t>
            </a:r>
          </a:p>
          <a:p/>
          <a:p>
            <a:r>
              <a:t>来源：04-ips-notation.md：弱音；05-ips-approach.md：重音、导言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原文边界与疑点：原文还在 ou 例词中写作 abòut；两处分别服务局部教学，不擅自拼成新原文写法。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34 页｜综合迁移练习</a:t>
            </a:r>
          </a:p>
          <a:p/>
          <a:p>
            <a:r>
              <a:t>建议用时：4 分钟</a:t>
            </a:r>
          </a:p>
          <a:p/>
          <a:p>
            <a:r>
              <a:t>讲解步骤：先带读三个词以提供准确读音，再让学生独立完成形义分析和默写。保留刀、船、缓慢的简单语境。</a:t>
            </a:r>
          </a:p>
          <a:p/>
          <a:p>
            <a:r>
              <a:t>课堂提问：这三个词各自最需要留意哪里？</a:t>
            </a:r>
          </a:p>
          <a:p/>
          <a:p>
            <a:r>
              <a:t>参考答案：boat 看 ōa；slow 看 ōw；knife 保留拼写中的 k，但原文标为不发音。</a:t>
            </a:r>
          </a:p>
          <a:p/>
          <a:p>
            <a:r>
              <a:t>来源：04-ips-notation.md：元音组合、I和U的替身、不发音字母；05-ips-approach.md：导言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35 页｜综合练习参考答案</a:t>
            </a:r>
          </a:p>
          <a:p/>
          <a:p>
            <a:r>
              <a:t>建议用时：3 分钟</a:t>
            </a:r>
          </a:p>
          <a:p/>
          <a:p>
            <a:r>
              <a:t>讲解步骤：先听学生说明，再显示答案。knife 本例只标静音字母，不要求从这一行推断所有元音读法。</a:t>
            </a:r>
          </a:p>
          <a:p/>
          <a:p>
            <a:r>
              <a:t>课堂提问：如果会读 knife 却总漏写 k，下一次应重点练什么？</a:t>
            </a:r>
          </a:p>
          <a:p/>
          <a:p>
            <a:r>
              <a:t>参考答案：将原文静音标记与完整拼写一起回忆，默写后对照。</a:t>
            </a:r>
          </a:p>
          <a:p/>
          <a:p>
            <a:r>
              <a:t>来源：04-ips-notation.md：相关例词；中文释义为教学补充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第二课｜第 36 页｜课后练习与方法复盘</a:t>
            </a:r>
          </a:p>
          <a:p/>
          <a:p>
            <a:r>
              <a:t>建议用时：2 分钟</a:t>
            </a:r>
          </a:p>
          <a:p/>
          <a:p>
            <a:r>
              <a:t>讲解步骤：邀请学生用一句话说明 IPS 如何帮助联系声音与拼写。布置五词练习，按是否读准、写对、理解词义核对，不宣称固定提高幅度。</a:t>
            </a:r>
          </a:p>
          <a:p/>
          <a:p>
            <a:r>
              <a:t>课堂提问：什么时候可以逐步减少标注？</a:t>
            </a:r>
          </a:p>
          <a:p/>
          <a:p>
            <a:r>
              <a:t>参考答案：当具体词的读音和拼写已熟悉，可以尝试遮住标注并核对。</a:t>
            </a:r>
          </a:p>
          <a:p/>
          <a:p>
            <a:r>
              <a:t>来源：05-ips-approach.md：导言、英语单词发音规则；04-ips-notation.md：导言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参考附录｜第 37 页｜元音速查（一）</a:t>
            </a:r>
          </a:p>
          <a:p/>
          <a:p>
            <a:r>
              <a:t>建议用时：课后查阅，不计入两课时</a:t>
            </a:r>
          </a:p>
          <a:p/>
          <a:p>
            <a:r>
              <a:t>讲解步骤：附录选录每类常用形式，其他等价形式参阅原表。只供查阅，不要求初学者背 IPA。</a:t>
            </a:r>
          </a:p>
          <a:p/>
          <a:p>
            <a:r>
              <a:t>课堂提问：为什么把 IPA 表放在附录？</a:t>
            </a:r>
          </a:p>
          <a:p/>
          <a:p>
            <a:r>
              <a:t>参考答案：正课以例词听读和 IPS 标注为主，避免增加入门负担。</a:t>
            </a:r>
          </a:p>
          <a:p/>
          <a:p>
            <a:r>
              <a:t>来源：05-ips-approach.md：全部元音／元音扩展表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原文边界与疑点：原文 /i/、/u/、/ɔ/ 等记法与常见词典记法可能不同，本版忠实保留。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参考附录｜第 38 页｜元音速查（二）</a:t>
            </a:r>
          </a:p>
          <a:p/>
          <a:p>
            <a:r>
              <a:t>建议用时：课后查阅，不计入两课时</a:t>
            </a:r>
          </a:p>
          <a:p/>
          <a:p>
            <a:r>
              <a:t>讲解步骤：原表在 /ə:/ 行列出 collar、colour 等例词，本页选择其余例词，不替原稿改表；疑点见末页备注。</a:t>
            </a:r>
          </a:p>
          <a:p/>
          <a:p>
            <a:r>
              <a:t>课堂提问：带 r 的写法是否能脱离具体词和口音理解？</a:t>
            </a:r>
          </a:p>
          <a:p/>
          <a:p>
            <a:r>
              <a:t>参考答案：应结合原文例词与实际读音，不能只凭一个符号概括所有环境。</a:t>
            </a:r>
          </a:p>
          <a:p/>
          <a:p>
            <a:r>
              <a:t>来源：05-ips-approach.md：全部元音／元音扩展表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参考附录｜第 39 页｜特殊后缀速查</a:t>
            </a:r>
          </a:p>
          <a:p/>
          <a:p>
            <a:r>
              <a:t>建议用时：课后查阅，不计入两课时</a:t>
            </a:r>
          </a:p>
          <a:p/>
          <a:p>
            <a:r>
              <a:t>讲解步骤：补充原表：-tiate 为 -shiāte，initiate/negotiate；-tuous 为 -chūo̊us，virtuous；-cient 为 -she̊nt，ancient；-ciency 为 -shency，efficiency/proficiency。</a:t>
            </a:r>
          </a:p>
          <a:p/>
          <a:p>
            <a:r>
              <a:t>课堂提问：初学时需要一次记完这张表吗？</a:t>
            </a:r>
          </a:p>
          <a:p/>
          <a:p>
            <a:r>
              <a:t>参考答案：不需要，遇到相关词时回查并听教师示范。</a:t>
            </a:r>
          </a:p>
          <a:p/>
          <a:p>
            <a:r>
              <a:t>来源：04-ips-notation.md、05-ips-approach.md：常见后缀发音／特殊后缀发音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原文边界与疑点：-dure 等写法忠实保留，实际发音涉及口音，不能仅按拼写机械推断。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参考附录｜第 40 页｜不发音字母速查</a:t>
            </a:r>
          </a:p>
          <a:p/>
          <a:p>
            <a:r>
              <a:t>建议用时：课后查阅，不计入两课时</a:t>
            </a:r>
          </a:p>
          <a:p/>
          <a:p>
            <a:r>
              <a:t>讲解步骤：表中保留局部标注。补充原文 c𝕙rist、g𝕙ost、r𝕙yme、𝕨ho、w𝕙at 等须结合词例。</a:t>
            </a:r>
          </a:p>
          <a:p/>
          <a:p>
            <a:r>
              <a:t>课堂提问：不标静音符号是否代表那个字母一定发音？</a:t>
            </a:r>
          </a:p>
          <a:p/>
          <a:p>
            <a:r>
              <a:t>参考答案：不是。原文允许熟悉后省略标注。</a:t>
            </a:r>
          </a:p>
          <a:p/>
          <a:p>
            <a:r>
              <a:t>来源：04-ips-notation.md：不发音字母；05-ips-approach.md：不发音元音、不发音辅音字母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资料政策：按作者体系讲述，不宣称已经外部词典核验。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参考附录｜第 41 页｜原文中的英美差异</a:t>
            </a:r>
          </a:p>
          <a:p/>
          <a:p>
            <a:r>
              <a:t>建议用时：课后查阅，不计入两课时</a:t>
            </a:r>
          </a:p>
          <a:p/>
          <a:p>
            <a:r>
              <a:t>讲解步骤：本页只选部分原文示例，不作完整英美标准对照。原文关于 i 不发 ĩ 及后缀重读的概括列入末页疑点。</a:t>
            </a:r>
          </a:p>
          <a:p/>
          <a:p>
            <a:r>
              <a:t>课堂提问：本页例子能否推导所有英美词都只有两种读法？</a:t>
            </a:r>
          </a:p>
          <a:p/>
          <a:p>
            <a:r>
              <a:t>参考答案：不能。这是原文举例，还涉及具体词和口音。</a:t>
            </a:r>
          </a:p>
          <a:p/>
          <a:p>
            <a:r>
              <a:t>来源：05-ips-approach.md：美国英语与英国英语的区别</a:t>
            </a:r>
          </a:p>
          <a:p/>
          <a:p>
            <a:r>
              <a:t>教学补充：本课的时间分配、提问、练习流程、中文释义和简短语境为教学设计；IPS 分类、标记及方法论依原稿。</a:t>
            </a:r>
          </a:p>
          <a:p/>
          <a:p>
            <a:r>
              <a:t>原文边界与疑点：保留来源归属，不宣称已用外部词典核验。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"/>
          <p:cNvSpPr>
            <a:spLocks noGrp="1"/>
          </p:cNvSpPr>
          <p:nvPr/>
        </p:nvSpPr>
        <p:spPr>
          <a:xfrm>
            <a:off x="704850" y="647700"/>
            <a:ext cx="102870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450" b="1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IPS</a:t>
            </a:r>
            <a:r>
              <a:rPr lang="en-US">
                <a:latin typeface="Cambria" panose="02040503050406030204"/>
                <a:ea typeface="Cambria" panose="02040503050406030204"/>
                <a:cs typeface="Cambria" panose="02040503050406030204"/>
              </a:rPr>
              <a:t>M </a:t>
            </a:r>
            <a:r>
              <a:rPr lang="zh-CN" altLang="en-US">
                <a:latin typeface="Cambria" panose="02040503050406030204"/>
                <a:ea typeface="宋体" panose="02010600030101010101" pitchFamily="2" charset="-122"/>
                <a:cs typeface="Cambria" panose="02040503050406030204"/>
              </a:rPr>
              <a:t>音形意统一记忆法</a:t>
            </a:r>
            <a:endParaRPr lang="zh-CN" altLang="en-US">
              <a:latin typeface="Cambria" panose="02040503050406030204"/>
              <a:ea typeface="宋体" panose="02010600030101010101" pitchFamily="2" charset="-122"/>
              <a:cs typeface="Cambria" panose="02040503050406030204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685800" y="1666875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95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IPS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音形统一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723900" y="2800350"/>
            <a:ext cx="107442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在单词原拼写上，读懂声音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733425" y="3876675"/>
            <a:ext cx="4667250" cy="1104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750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nāme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5191125" y="4210050"/>
            <a:ext cx="59055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723900" y="567690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两课时入门课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01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本课的学习目标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先读懂标注，再用标注帮助记词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课堂任务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完成表现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第一课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识别基础符号与元音组合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说出标记落在哪个字母上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第二课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分析重弱、开闭和特殊读音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按步骤讲解一个单词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课后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把读音、拼写和词义一起回忆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逐步减少对标注的依赖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学习顺序与课堂活动为教学设计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02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一个词的音、形、意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38250"/>
            <a:ext cx="1066800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45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nāme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2552700"/>
          <a:ext cx="10820400" cy="3009900"/>
        </p:xfrm>
        <a:graphic>
          <a:graphicData uri="http://schemas.openxmlformats.org/drawingml/2006/table">
            <a:tbl>
              <a:tblPr firstRow="1"/>
              <a:tblGrid>
                <a:gridCol w="2000250"/>
                <a:gridCol w="8820150"/>
              </a:tblGrid>
              <a:tr h="7524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联系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观察与练习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524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音：读音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跟随教师准确读词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形：拼写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n a m e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上的横线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524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意：意义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名字；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My name is Li.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中文释义与例句为教学补充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03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字母名称与词中读音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读单词时，关注字母在词中的发音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词中字母或组合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</a:t>
                      </a:r>
                      <a:r>
                        <a:rPr sz="2215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IPS </a:t>
                      </a:r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 / m / f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[b] / [m] / [f]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big / mother / fit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j / ch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[j] / [ch]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jeep / chair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y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[y]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yes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元音字母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E I O U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下一步学习它们的标注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[j]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IPA /dʒ/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[y]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/j/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[ch]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/tʃ/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04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四类基础标注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先把符号与名称对应起来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名称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观察标记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横线：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 ē ī ō ū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nāme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不加标记：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e i o u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bat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轻音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圆点：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ȧ ė u̇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bėgin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弱音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圆圈：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 e̊ i̊ o̊ ů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åbout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按本文体系；轻音中的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不额外加点的写法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05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开音：字母上方的横线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按本文标注，横线提示开音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200400"/>
        </p:xfrm>
        <a:graphic>
          <a:graphicData uri="http://schemas.openxmlformats.org/drawingml/2006/table">
            <a:tbl>
              <a:tblPr first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</a:t>
                      </a:r>
                      <a:endParaRPr sz="27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ī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ū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nāme</a:t>
                      </a:r>
                      <a:endParaRPr sz="27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mē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līke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nō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ūse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观察、听教师示范，再逐个跟读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06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闭音：基础写法不加标记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先认识五组短词中的基础元音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200400"/>
        </p:xfrm>
        <a:graphic>
          <a:graphicData uri="http://schemas.openxmlformats.org/drawingml/2006/table">
            <a:tbl>
              <a:tblPr first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</a:t>
                      </a:r>
                      <a:endParaRPr sz="27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bat</a:t>
                      </a:r>
                      <a:endParaRPr sz="27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bed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hit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dog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but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辨认字形后跟读，避免把五组元音读成同一个音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07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开音与闭音对照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观察拼写变化，同时听读音变化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闭音例词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开音例词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观察重点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hat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hāte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ā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not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nōte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ō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rid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rīde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ī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08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轻音：元音上方的点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按本文体系，轻音比重音轻，又比弱音重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观察位置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ȧ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imȧge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上方一点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ė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bėgin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上方一点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 / ẏ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lily / lilẏ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的轻音可不额外加点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u̇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bu̇sy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上方一点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原文把轻音记作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/i/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；本课通过例词听辨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09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弱音：元音上方的圈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按本文体系，弱音用于表现放松、过渡的声音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200400"/>
        </p:xfrm>
        <a:graphic>
          <a:graphicData uri="http://schemas.openxmlformats.org/drawingml/2006/table">
            <a:tbl>
              <a:tblPr first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</a:t>
                      </a:r>
                      <a:endParaRPr sz="2700" b="1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</a:t>
                      </a:r>
                      <a:endParaRPr sz="27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e̊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i̊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o̊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ů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åbout</a:t>
                      </a:r>
                      <a:endParaRPr sz="27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ope̊n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evi̊l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pro̊pel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7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sůpply</a:t>
                      </a:r>
                      <a:endParaRPr sz="27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圈的位置不同，本文统一归入弱音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/ə/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10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同一个词中的不同元音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逐个观察元音，避免把整词当成同一种标注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标记处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本页任务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bėgin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ė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：轻音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指出点的位置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åbout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：弱音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指出圈的位置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ope̊n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e̊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：弱音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不要把圈读到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o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imȧge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ȧ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：轻音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，不改动字母顺序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此处展示原文局部标注，不补全未写的符号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11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基础标注小练习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304925"/>
            <a:ext cx="10706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独立判断下列标记属于哪一类，再跟读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723900" y="213360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nāme       bat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723900" y="3133725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bėgin       åbout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723900" y="43719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找到横线、点、圈和未标元音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723900" y="47910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“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开、闭、轻、弱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”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723900" y="60198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先作答，再听教师反馈；答案在讲者备注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12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两个元音字母的组合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原文规则：横线在哪个字母上，就读它的开音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主导字母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āi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rāin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ēa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mēat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iē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fiēld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ōa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bōat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先看组合，再找横线，最后连同辅音拼读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13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同样的组合，标记可以不同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ea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为例，读音信息来自标记的位置和形状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本文解释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ēa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mēat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的开音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eā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greāt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的开音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èa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brèad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[e]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对应的特殊写法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三组分别带读，再遮住说明栏做辨认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14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需要单独记忆的元音组合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原文把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oi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oo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au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单独列出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学习方式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oi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coin / oil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整组听读记忆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oo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moon / food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先熟悉这组例词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ãu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ãutůmn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留意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上的波浪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oo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还有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book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good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等读音，后续按具体例词区分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15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多音时增加的三个符号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用新增符号区分同一拼写的不同读音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标记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波浪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 / õ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ãll / shõe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长捺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à / òu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fàst / clòud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尖角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ô / ôu / ôo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sôme / dôuble / blôod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符号要与字母或组合一起记，不能单独套用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16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Y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的替身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按本文分类，把熟悉的元音写法迁移到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y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71475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替代写法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ī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ȳ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flȳ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ẏ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lilẏ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āi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sāy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ēi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kēy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èi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èy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thèy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比较替换前后的字母位置，再跟读例词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17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W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U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的替身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按本文分类，观察以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w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结尾的组合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替代写法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ãu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lãw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eū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ew̄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new̄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ōu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slōw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òu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òw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còw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同样的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ow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，可通过不同标注区分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18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第一课综合练习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304925"/>
            <a:ext cx="10706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先找标记，再说明类别，最后尝试拼读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723900" y="213360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rāin     mēat     brèad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723900" y="3133725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flȳ       còw       åbout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723900" y="43719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哪两个词含横线主导的元音组合？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723900" y="47910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哪个词出现替身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y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？哪个出现替身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w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"/>
          <p:cNvSpPr>
            <a:spLocks noGrp="1"/>
          </p:cNvSpPr>
          <p:nvPr/>
        </p:nvSpPr>
        <p:spPr>
          <a:xfrm>
            <a:off x="723900" y="52101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哪个词用了圆圈？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723900" y="60198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独立完成后与同桌核对，下一页公布答案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19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第一课练习讲解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答案既要说出符号，也要指出它的位置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识别结果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原文依据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rāin / mēat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āi / ēa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，横线主导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元音组合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brèad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èa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，特殊读音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多音元音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flȳ / còw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ȳ / òw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，替身写法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U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的替身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åbout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，弱音圆圈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弱音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课间回忆：横线、无标记、点、圈分别提示什么？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20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第二课：重音与读音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按原文，先明确重音，再分析其他音节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200400"/>
        </p:xfrm>
        <a:graphic>
          <a:graphicData uri="http://schemas.openxmlformats.org/drawingml/2006/table">
            <a:tbl>
              <a:tblPr firstRow="1"/>
              <a:tblGrid>
                <a:gridCol w="3265170"/>
                <a:gridCol w="7555230"/>
              </a:tblGrid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原文对照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观察内容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comme̊nt / co̊mmand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同样的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com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，原文分别写作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com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co̊m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record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：名词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动词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原文用不同重音位置说明词性与读音的联系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本页先听教师示范；原文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IPS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约定省略独立重音符号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21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四类标注与重弱顺序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按本文体系，读音类别与相对重弱需要一起理解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1802765"/>
                <a:gridCol w="4883785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原文顺序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重弱读情况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1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开音、长弱音、闭音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重读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2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轻音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重读或弱读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3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短弱音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弱读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4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不发音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“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长弱音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”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名称含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“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”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，但表中把它列为重读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22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重弱交替的观察方法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原文用相对强弱解释单词中的节奏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80581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观察步骤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按原文方法处理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先明确重音位置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从教师示范或已经确认的读音入手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再看其余音节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结合原文的重弱交替思路观察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关注前后缀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前后缀常弱读，须留意具体词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23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开闭音节的判断线索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以下是原文给出的拼写线索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71475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本文分类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字母结构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开音节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元音结尾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we / go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开音节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不发音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name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开音节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元音组合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wait / meet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闭音节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辅音结尾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net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闭音节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两辅音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不发音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solve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先观察结构，再与实际读音核对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24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规则之外的情况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原文要求对不符合一般规则的音节专门留心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3315335"/>
                <a:gridCol w="7505065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原文情况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处理方式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have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原文列为需注意的词，不直接套用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name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change / waste / taste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正文先列作例外，脚注再把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ng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st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作整体解释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不发音的辅音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原文在开闭音判断中把它视为不存在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保留原文及脚注两种表述，不把有分歧的例子用于唯一答案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25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元音与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R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按本文体系，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R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会影响前面的元音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先观察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ār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cāre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后面跟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ēr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hēre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后面跟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īr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fīre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ī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后面跟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ōr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fōre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后面跟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原文保留变化前的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IPS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写法，用例词示范发音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26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长弱音、短弱音与流音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按本文解释，是否跟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R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及其后续环境会影响分类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观察对象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原文示例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原文说明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弱音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r +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bi̊rd / bůrn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归为长弱音，可重读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短弱音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åbout / sůpply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没有使它成为长弱的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流音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 / L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care / board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；辅音中的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l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易与其他辅音、元音结合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名称、时长和重读不是同一个判断维度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27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元音字母窜位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原文用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“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窜位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”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描述其他字母承担熟悉的元音读音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原文名称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窜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èy / èi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thèy / </a:t>
                      </a:r>
                      <a:r>
                        <a:rPr sz="2215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+mn-ea"/>
                        </a:rPr>
                        <a:t>è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ight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窜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E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ĩ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sk</a:t>
                      </a:r>
                      <a:r>
                        <a:rPr sz="2215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+mn-ea"/>
                        </a:rPr>
                        <a:t>ĩ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pol</a:t>
                      </a:r>
                      <a:r>
                        <a:rPr sz="2215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+mn-ea"/>
                        </a:rPr>
                        <a:t>ĩ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窜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O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ã(l) / ãu / ãw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pPr algn="l"/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ãll / </a:t>
                      </a:r>
                      <a:r>
                        <a:rPr sz="2215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+mn-ea"/>
                        </a:rPr>
                        <a:t>ã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uto / lãw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窜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U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ô / ôu / ôo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lôve / dôuble / blôod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“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窜位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”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是作者的解释用语，学习时仍核对具体例词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28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辅音组合的整体拼读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在元音前后，把熟悉的辅音连接起来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组合类型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原文组合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l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bl / fl / cl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blūe / flāme / clēan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r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br / gr / tr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brīde / grēen / trāin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 +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sn / sl / st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snōw / slēep / stàr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三辅音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scr / spr / str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先跟教师读组合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先慢速连接，再连成整词；不添加额外元音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29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不发音字母的标示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原文采用双线体，保留字母但提示不发音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观察对象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记忆任务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𝕜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nife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𝕜</a:t>
                      </a:r>
                      <a:endParaRPr sz="2215" b="0">
                        <a:solidFill>
                          <a:srgbClr val="173E35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仍记住拼写中的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k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li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𝕘𝕙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𝕘𝕙</a:t>
                      </a:r>
                      <a:endParaRPr sz="2215" b="0">
                        <a:solidFill>
                          <a:srgbClr val="173E35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仍记住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gh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的位置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com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𝕓</a:t>
                      </a:r>
                      <a:endParaRPr sz="2215" b="0">
                        <a:solidFill>
                          <a:srgbClr val="AB4934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𝕓</a:t>
                      </a:r>
                      <a:endParaRPr sz="2215" b="0">
                        <a:solidFill>
                          <a:srgbClr val="173E35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仍记住末尾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b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nam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𝕖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ly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𝕖</a:t>
                      </a:r>
                      <a:endParaRPr sz="2215" b="0">
                        <a:solidFill>
                          <a:srgbClr val="173E35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词中不发音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e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用双线体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原文通常省略词尾不发音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e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的标示，例如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name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30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-ed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-s/-es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的读音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按词尾前面的声音分类，而不只看字母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714750"/>
        </p:xfrm>
        <a:graphic>
          <a:graphicData uri="http://schemas.openxmlformats.org/drawingml/2006/table">
            <a:tbl>
              <a:tblPr firstRow="1"/>
              <a:tblGrid>
                <a:gridCol w="1506220"/>
                <a:gridCol w="5180330"/>
                <a:gridCol w="4133850"/>
              </a:tblGrid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后缀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分类线索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原文例词与结果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-ed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元音或浊辅音后，先排除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d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call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𝕖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d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[d]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-ed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清辅音后，先排除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help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𝕖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ḋ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[t]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-ed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[t]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[d]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wantėd / needėd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[id]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-s/-es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[s z sh s̃ ch j]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washėṡ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[iz]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1912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其余清音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浊音或元音后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books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[s]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bagṡ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[z]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59817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先判断需单列的声音，再判断清浊；本文可省略熟悉后缀的标注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31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完整示范：记住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rain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38250"/>
            <a:ext cx="1066800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45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rāin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2552700"/>
          <a:ext cx="10820400" cy="3048000"/>
        </p:xfrm>
        <a:graphic>
          <a:graphicData uri="http://schemas.openxmlformats.org/drawingml/2006/table">
            <a:tbl>
              <a:tblPr firstRow="1"/>
              <a:tblGrid>
                <a:gridCol w="2000250"/>
                <a:gridCol w="882015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本词操作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听读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教师示范，学生跟读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看形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 + āi + n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，横线落在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联义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雨；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The rain is cold.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回忆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遮住标注，读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rain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，再写出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rain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32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完整示范：记住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about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38250"/>
            <a:ext cx="10668000" cy="1085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645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åbout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2552700"/>
          <a:ext cx="10820400" cy="3048000"/>
        </p:xfrm>
        <a:graphic>
          <a:graphicData uri="http://schemas.openxmlformats.org/drawingml/2006/table">
            <a:tbl>
              <a:tblPr firstRow="1"/>
              <a:tblGrid>
                <a:gridCol w="2000250"/>
                <a:gridCol w="8820150"/>
              </a:tblGrid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本词操作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听读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先听教师示范并明确重音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看标记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上的圈提示本文弱音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联义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关于；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book about rain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回忆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遮住标注读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about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，并写出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a b o u 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33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综合迁移练习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304925"/>
            <a:ext cx="10706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用同一套步骤讲解三个已经出现过的词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723900" y="2133600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00" b="0">
                <a:solidFill>
                  <a:srgbClr val="AB49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bōat       slōw       </a:t>
            </a:r>
            <a:r>
              <a:rPr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𝕜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nife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" name="text"/>
          <p:cNvSpPr>
            <a:spLocks noGrp="1"/>
          </p:cNvSpPr>
          <p:nvPr/>
        </p:nvSpPr>
        <p:spPr>
          <a:xfrm>
            <a:off x="723900" y="43719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找到元音组合、替身或不发音字母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723900" y="47910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2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跟读后说出中文意义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723900" y="5210175"/>
            <a:ext cx="10706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 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遮住标注，读词并默写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34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综合练习参考答案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答案同时覆盖读音提示、拼写与意义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4671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本文标注观察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词义与拼写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bōat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ōa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的开音主导组合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船；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 o a 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slōw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ōw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：本文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W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替身写法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缓慢的；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 l o w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866775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𝕜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nife</a:t>
                      </a:r>
                      <a:endParaRPr sz="2215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𝕜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：不发音字母仍保留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刀；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k n i f 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35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课后练习与方法复盘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用少量词反复建立音、形、意的联系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80581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练习方式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有标注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指认标记，跟读并说词义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半遮挡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遮住注音，保留普通拼写尝试读词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独立回忆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只给词义或语境，回忆读音并默写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把不熟悉的音节或字母单独记录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36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元音速查（一）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IPA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IPS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对照选录，供教师查阅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85800" y="1952625"/>
          <a:ext cx="5200650" cy="3800475"/>
        </p:xfrm>
        <a:graphic>
          <a:graphicData uri="http://schemas.openxmlformats.org/drawingml/2006/table">
            <a:tbl>
              <a:tblPr/>
              <a:tblGrid>
                <a:gridCol w="876300"/>
                <a:gridCol w="2952750"/>
                <a:gridCol w="1371600"/>
              </a:tblGrid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IPA</a:t>
                      </a:r>
                      <a:endParaRPr sz="2000" b="1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IPS </a:t>
                      </a:r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常用写法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/æ/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bad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/e/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 / èa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bed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/i/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 / ẏ / ė / ȧ / u̇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sit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/ɔ/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hot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/ʌ/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u / ô / ôu / ôo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but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/ei/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 / āi / āy / eā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late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305550" y="1952625"/>
          <a:ext cx="5200650" cy="3257550"/>
        </p:xfrm>
        <a:graphic>
          <a:graphicData uri="http://schemas.openxmlformats.org/drawingml/2006/table">
            <a:tbl>
              <a:tblPr/>
              <a:tblGrid>
                <a:gridCol w="876300"/>
                <a:gridCol w="2952750"/>
                <a:gridCol w="1371600"/>
              </a:tblGrid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IPA</a:t>
                      </a:r>
                      <a:endParaRPr sz="2000" b="1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IPS </a:t>
                      </a:r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常用写法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/i:/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 / ēe / ēa / iē / ĩ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/ai/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ī / ȳ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nice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/əu/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ō / ōa / ōw / ōu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go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/ju:/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ū / ew̄ / eū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duty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/u:/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oo / oū / õ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tool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37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元音速查（二）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R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相关写法、弱音和其他组合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85800" y="1952625"/>
          <a:ext cx="5200650" cy="3800475"/>
        </p:xfrm>
        <a:graphic>
          <a:graphicData uri="http://schemas.openxmlformats.org/drawingml/2006/table">
            <a:tbl>
              <a:tblPr/>
              <a:tblGrid>
                <a:gridCol w="876300"/>
                <a:gridCol w="2952750"/>
                <a:gridCol w="1371600"/>
              </a:tblGrid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IPA</a:t>
                      </a:r>
                      <a:endParaRPr sz="2000" b="1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IPS </a:t>
                      </a:r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常用写法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/u/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ù / oo(k) / oo(d)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put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/a:/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àr / à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dark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/au/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òu / òw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loud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/eə/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ār / āir / eār / er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care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/iə/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ēer / ēar / ēr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beer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/aiə/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īr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fire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305550" y="1952625"/>
          <a:ext cx="5200650" cy="3257550"/>
        </p:xfrm>
        <a:graphic>
          <a:graphicData uri="http://schemas.openxmlformats.org/drawingml/2006/table">
            <a:tbl>
              <a:tblPr/>
              <a:tblGrid>
                <a:gridCol w="876300"/>
                <a:gridCol w="2952750"/>
                <a:gridCol w="1371600"/>
              </a:tblGrid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IPA</a:t>
                      </a:r>
                      <a:endParaRPr sz="2000" b="1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IPS </a:t>
                      </a:r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常用写法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solidFill>
                      <a:srgbClr val="DFE9E1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/ɔ:/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or / ōr / ãu / ãw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port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/uə/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ūr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during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/ə/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e̊ / å / i̊ / o̊ / ů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open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/ə:/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e̊r / i̊r / ůr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her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1F4EF"/>
                    </a:solidFill>
                  </a:tcPr>
                </a:tc>
              </a:tr>
              <a:tr h="5429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/ɔi/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oi / oẏ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oil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38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特殊后缀速查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按原文归组，熟悉后可省略重复标注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771650"/>
          <a:ext cx="10820400" cy="41148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3905250"/>
                <a:gridCol w="3962400"/>
              </a:tblGrid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后缀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原文读法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DFE9E1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-sion / -tion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-sho̊n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impression / nation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-sion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-s̃o̊n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vision / decision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-s-tion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-s-cho̊n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question / suggestion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-sure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元音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+ -sure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-shůre / -s̃ůre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pressure / pleasure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-ture / -dure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-chůre / -dgůre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picture / procedure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-tial / -cial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-shål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partial / official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-cious / -ceous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-sho̊us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delicious / herbaceous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60960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-tiate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-tuous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-cient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-ciency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见备注与原文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39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不发音字母速查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双线体表示原文要求保留拼写、读时省略的字母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771650"/>
          <a:ext cx="10820400" cy="36004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3905250"/>
                <a:gridCol w="3962400"/>
              </a:tblGrid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组合或字母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原文例词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观察重点</a:t>
                      </a:r>
                      <a:endParaRPr sz="2000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DFE9E1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𝕙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𝕘𝕙</a:t>
                      </a:r>
                      <a:endParaRPr sz="2000" b="0">
                        <a:solidFill>
                          <a:srgbClr val="AB4934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𝕙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our / ni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𝕘𝕙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t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词首或词中的静音</a:t>
                      </a:r>
                      <a:endParaRPr sz="2000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𝕜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𝕘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𝕜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nee / si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𝕘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k / g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m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𝕓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𝕨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lam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𝕓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𝕨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rite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b / w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𝕡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𝕡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</a:t>
                      </a:r>
                      <a:endParaRPr sz="2000" b="0">
                        <a:solidFill>
                          <a:srgbClr val="AB4934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𝕡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neumonia / 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𝕡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sychology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保留词首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p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-is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𝕥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-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𝕤</a:t>
                      </a:r>
                      <a:endParaRPr sz="2000" b="0">
                        <a:solidFill>
                          <a:srgbClr val="AB4934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lis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𝕥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en / i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𝕤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land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留意词中的静音</a:t>
                      </a:r>
                      <a:endParaRPr sz="2000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𝕖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𝕦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/ </a:t>
                      </a:r>
                      <a:r>
                        <a:rPr sz="2000" b="0">
                          <a:solidFill>
                            <a:srgbClr val="AB4934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𝕚</a:t>
                      </a:r>
                      <a:endParaRPr sz="2000" b="0">
                        <a:solidFill>
                          <a:srgbClr val="AB4934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nam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𝕖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ly / g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𝕦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itar / fr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𝕚</a:t>
                      </a:r>
                      <a:r>
                        <a:rPr sz="2000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end</a:t>
                      </a:r>
                      <a:endParaRPr sz="2000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000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不发音元音也保留拼写</a:t>
                      </a:r>
                      <a:endParaRPr sz="2000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19050" marB="1905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4" name="text"/>
          <p:cNvSpPr>
            <a:spLocks noGrp="1"/>
          </p:cNvSpPr>
          <p:nvPr/>
        </p:nvSpPr>
        <p:spPr>
          <a:xfrm>
            <a:off x="704850" y="6096000"/>
            <a:ext cx="10725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熟记后可省略标示；末尾不发音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e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按原文通常不标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40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6672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E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原文中的英美差异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"/>
          <p:cNvSpPr>
            <a:spLocks noGrp="1"/>
          </p:cNvSpPr>
          <p:nvPr/>
        </p:nvSpPr>
        <p:spPr>
          <a:xfrm>
            <a:off x="704850" y="1285875"/>
            <a:ext cx="10725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以下为原文举例，按作者的</a:t>
            </a: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 IPS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写法呈现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85800" y="1924050"/>
          <a:ext cx="10820400" cy="3619500"/>
        </p:xfrm>
        <a:graphic>
          <a:graphicData uri="http://schemas.openxmlformats.org/drawingml/2006/table">
            <a:tbl>
              <a:tblPr firstRow="1"/>
              <a:tblGrid>
                <a:gridCol w="2571750"/>
                <a:gridCol w="4114800"/>
                <a:gridCol w="4133850"/>
              </a:tblGrid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观察维度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原文英式写法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1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原文美式写法</a:t>
                      </a:r>
                      <a:endParaRPr sz="2215" b="1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DFE9E1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拼写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honour / centre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honor / center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的例词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àsk / fàst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ask / fast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R </a:t>
                      </a:r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的表现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car / river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强调词中的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R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发音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AB49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其他例词</a:t>
                      </a:r>
                      <a:endParaRPr sz="2215" b="0">
                        <a:solidFill>
                          <a:srgbClr val="AB49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clerk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er 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 àr</a:t>
                      </a:r>
                      <a:r>
                        <a:rPr sz="2215" b="0">
                          <a:solidFill>
                            <a:srgbClr val="173E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2215" b="0">
                        <a:solidFill>
                          <a:srgbClr val="173E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  <a:tc>
                  <a:txBody>
                    <a:bodyPr wrap="none">
                      <a:spAutoFit/>
                    </a:bodyPr>
                    <a:lstStyle/>
                    <a:p>
                      <a:r>
                        <a:rPr sz="2215" b="0">
                          <a:solidFill>
                            <a:srgbClr val="173E35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</a:rPr>
                        <a:t>cle̊rk</a:t>
                      </a:r>
                      <a:endParaRPr sz="2215" b="0">
                        <a:solidFill>
                          <a:srgbClr val="173E35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</a:endParaRPr>
                    </a:p>
                  </a:txBody>
                  <a:tcPr marL="171450" marR="152400" marT="76200" marB="76200" anchor="ctr">
                    <a:solidFill>
                      <a:srgbClr val="F1F4EF"/>
                    </a:solidFill>
                  </a:tcPr>
                </a:tc>
              </a:tr>
            </a:tbl>
          </a:graphicData>
        </a:graphic>
      </p:graphicFrame>
      <p:sp>
        <p:nvSpPr>
          <p:cNvPr id="5" name="page-number"/>
          <p:cNvSpPr>
            <a:spLocks noGrp="1"/>
          </p:cNvSpPr>
          <p:nvPr/>
        </p:nvSpPr>
        <p:spPr>
          <a:xfrm>
            <a:off x="10382250" y="64770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5363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41 / 42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5814</Words>
  <Application>WPS 演示</Application>
  <PresentationFormat>Converted Presentation</PresentationFormat>
  <Paragraphs>1462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Cambria</vt:lpstr>
      <vt:lpstr>Arial Unicode MS</vt:lpstr>
      <vt:lpstr>Calibri</vt:lpstr>
      <vt:lpstr>Cambria Math</vt:lpstr>
      <vt:lpstr>BatangChe</vt:lpstr>
      <vt:lpstr>AMGDT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8</cp:revision>
  <dcterms:created xsi:type="dcterms:W3CDTF">2026-09-19T13:17:21Z</dcterms:created>
  <dcterms:modified xsi:type="dcterms:W3CDTF">2026-09-19T13:30:01Z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1D4A6F4AEC88416DA806243A98C61739</vt:lpwstr>
  </property>
  <property fmtid="{D5CDD505-2E9C-101B-9397-08002B2CF9AE}" pid="3" name="KSOProductBuildVer">
    <vt:lpwstr>2052-11.8.2.12265</vt:lpwstr>
  </property>
</Properties>
</file>