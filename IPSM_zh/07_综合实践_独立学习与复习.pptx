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建议两课时。第一课示范和分层练习，第二课测评和纠错。学生准备词典、纸笔及过去的学习记录。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  <a:p>
            <a:r>
              <a:t>封面背景：OpenAI内置图像生成工具生成的教学插画。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热身答案/reɪn/；help+-ful；un-+believe+-able。根据错误决定先回看第02、04或05课。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这三个阶段内包含查音、看形、拆词、语境理解、提取练习。查词典要选定口音，复杂词不要跳过读音核对。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全词音素/r eɪ n/。教师朗读两次，第一次学生听，第二次跟读。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原文原则落实在常见短词。可以说rain不必强行词素拆分，整个词已经是可用的基础词。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词尾ful在本词中为/fəl/，不要因为看到full就读成/fʊl/。圈标u提示弱元音。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给予advice词义，避免额外生词遮蔽目标。学生造句可接受This teacher is helpful. 注意形容词位置。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先读词典读音再拆词。长词不要求每个字母都添加IPS，学生只标自己容易错的部分。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教师可给出逆转获胜或意外失败两种情景。答案需有具体解释，而不是只说“不可相信”。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教师可以让学生直接按这三列在笔记本记录。无需固定美观格式，重点是能用来回忆和纠错。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分层A。给3分钟，读音与拼写均需回答。答案在本课第13页。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分层B。语境题考词性和搭配。答案在下一页。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逐条请学生说出错误属于读音、拼写、构词还是使用。不要将完整IPA背写作为所有初学者的必达要求。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可按基础调节时长。评估记录在纸上。学生完成前不展示下一页答案。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第1题标记/读音各1分；第2、3题每词1分；第4题合理拆分和意义各1分；第5题语法搭配合理1分、释义符合句子1分。可接受其他正确句子。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教师先挑最影响理解的一项纠正，避免一次标记所有细节。让学生纠错后再次脱稿作答。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这是一份可调整的课堂练习安排，不声称特定间隔对所有人最优。复习量按年龄和熟练程度调整。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每人2分钟。基础较弱者选择rain/name，进阶者选择helpful/unbelievable。不要用没有查证的词根故事说服同伴。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如任一项不稳，回到相关课而非重学全套。向学生展示起始课写下的易错词，比较现在能否准确处理。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教师可按读音、拼写、语境使用三项给反馈。不以符号标得多或故事编得长作为学习成果。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documents_zh/01-ips-symbols.md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documents_zh/04-ips-notation.md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634"/>
          <p:cNvSpPr>
            <a:spLocks noGrp="1"/>
          </p:cNvSpPr>
          <p:nvPr/>
        </p:nvSpPr>
        <p:spPr>
          <a:xfrm>
            <a:off x="685800" y="666750"/>
            <a:ext cx="752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音形意统一记忆法   /   第 07 课</a:t>
            </a:r>
            <a:endParaRPr sz="1800" b="0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35"/>
          <p:cNvSpPr>
            <a:spLocks noGrp="1"/>
          </p:cNvSpPr>
          <p:nvPr/>
        </p:nvSpPr>
        <p:spPr>
          <a:xfrm>
            <a:off x="685800" y="1952625"/>
            <a:ext cx="7048500" cy="2333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独立学习
与复习</a:t>
            </a:r>
            <a:endParaRPr sz="57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36"/>
          <p:cNvSpPr>
            <a:spLocks noGrp="1"/>
          </p:cNvSpPr>
          <p:nvPr/>
        </p:nvSpPr>
        <p:spPr>
          <a:xfrm>
            <a:off x="723900" y="4857750"/>
            <a:ext cx="6572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综合课 · 把方法变成可重复的学习过程</a:t>
            </a:r>
            <a:endParaRPr sz="2100" b="0">
              <a:solidFill>
                <a:srgbClr val="315E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63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本课目标与热身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3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02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39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rain   helpful   unbelievable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40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41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读准 rain，并指出 ai 的读音。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42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43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 helpful 的构词。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644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645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说明长词 unbelievable 可以怎样分析。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646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一套完整学习流程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47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03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48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每一步都有明确产出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49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50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查词典并听读：留下读音与重音提示。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51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52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观察拼写和构词：只标必要线索。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653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654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放入语境并回忆：能读、能写、能用。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65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示范一：rain 的音与形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5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04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57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rain    </a:t>
            </a: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/reɪn/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58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听读：确认中间是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/eɪ/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59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观察：ai 两个字母共同表示元音。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60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IPS：[rāin]。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66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示范一：rain 的意与用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6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05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63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 need rain.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64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句中 rain 指雨。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65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写下 rain，并在 ai 处作提示。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66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遮住单词，听写后用句子核对。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66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示范二：helpful 的音与形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6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06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69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helpful  </a:t>
            </a: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/ˈhelp.fəl/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70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重音在 help，后面 -ful 弱读。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71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help + -ful：有帮助的。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72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IPS 提示：[helpfůl]。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67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示范二：helpful 的语境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7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07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75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Your advice is helpful.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76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advice：建议。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77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helpful 描述这些建议有帮助。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78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换一个名词练习：
This book is helpful.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67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示范三：unbelievable 的层次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8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08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81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 + believe + 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-able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82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词义方向：难以相信的。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83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拼写变化：believe 去 e，再接 -able。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84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读音：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/ˌʌn.bɪˈliː.və.bəl/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68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示范三：用具体情景确认意义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8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09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87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result is unbelievable.</a:t>
            </a:r>
            <a:endParaRPr sz="36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88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result：结果。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89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比赛结果让人难以置信。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90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根据情景说明是惊喜、震惊还是怀疑。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-69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个人学习记录示例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9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10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762000" y="1762125"/>
          <a:ext cx="10620375" cy="3619500"/>
        </p:xfrm>
        <a:graphic>
          <a:graphicData uri="http://schemas.openxmlformats.org/drawingml/2006/table">
            <a:tbl>
              <a:tblPr/>
              <a:tblGrid>
                <a:gridCol w="4000500"/>
                <a:gridCol w="2381250"/>
                <a:gridCol w="4238625"/>
              </a:tblGrid>
              <a:tr h="723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315E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315E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自测方式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315E4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读音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/ˈhelp.fəl/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听后跟读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拼写与构词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help + -ful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遮住后拼写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语境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This book is helpful.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替换主语造句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易错点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-ful 弱读 </a:t>
                      </a:r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/fəl/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 full 对比</a:t>
                      </a:r>
                      <a:endParaRPr sz="2025" b="0">
                        <a:solidFill>
                          <a:srgbClr val="243D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14300" marT="142875" marB="114300" anchor="ctr">
                    <a:solidFill>
                      <a:srgbClr val="EF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69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基础练习：标注与对比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9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11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95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   kit   kite   about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96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97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 的 a 用什么 IPS 提示？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98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99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kit 与 kite 的元音怎样不同？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00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701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about 的第一个 a 读什么？
哪个音节重读？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702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进阶练习：构词与语境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03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12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04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careless   happiness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05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706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拆分 careless，并解释 -less 的作用。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07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708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写出 happy 加 -ness 后的正确拼写。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09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710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填空：It was a ______ mistake.
选择 careless 或 happiness，并说明理由。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71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分层练习答案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1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13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13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[nāme]    happiness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14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715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 的 a 加横线；kit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/ɪ/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，kite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/aɪ/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16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717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about 的 a 为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/ə/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，后一个音节重读。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18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719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care + -less；happy 改 y 为 i 加 -ness。
填 careless，形容词修饰 mistake。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720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综合测评：独立完成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21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14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22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分钟 · 总分 10 分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23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724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标出 name 的 IPS，并解释 a 的音。（2分）
② 分类 books、played 的词尾读音。（2分）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25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726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写出 study、begin 的 -ing 形式。（2分）
④ 拆分 unhelpful 并说明大意。（2分）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27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728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用 wave 写一句话，并解释句中义项。（2分）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72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综合测评参考答案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3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15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31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每题 2 分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32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733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[nāme]，a 读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/eɪ/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
② books 词尾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；played 词尾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/d/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34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735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studying；beginning。
④ un- + help + -ful，无帮助的。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36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737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I wave goodbye.  我挥手告别。
也可用 a big wave 描述海浪。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738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错误决定下一步复习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39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16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40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先定位，再重练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41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读错：对比易混音。
如 ship 与 sheep。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742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写错：观察拼写和变化。
如 studying 与 beginning。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43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用错：补上具体语境。
如 wave 与 wave goodbye。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744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一周复习安排示例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45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17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46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 5–10 分钟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47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748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当天：学习 3–5 词，立即做遮挡回忆。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49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750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次日与第 3 天：先自测，再查看答案。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51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752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7 天：混合旧词造句和听写。
总出错的词安排更多练习。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75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同伴互教：把方法讲明白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5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18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55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任选一个本周新词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56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757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先展示一个能帮助理解的短句。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58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759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解释一处读音或拼写线索。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60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761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让同伴遮住词进行回忆，
再指出他需要复习的地方。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762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结课自检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63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19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64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能独立学习一个词了吗？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65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766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会确认读音、重音与正确拼写。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67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768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会合理拆词，并在语境中确定意义。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69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770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会区分规则与个人联想，
用回忆结果安排下一次复习。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5E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77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课后应用任务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7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/  20</a:t>
            </a:r>
            <a:endParaRPr sz="14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73"/>
          <p:cNvSpPr>
            <a:spLocks noGrp="1"/>
          </p:cNvSpPr>
          <p:nvPr/>
        </p:nvSpPr>
        <p:spPr>
          <a:xfrm>
            <a:off x="723900" y="17526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完成自己的 10 词学习记录</a:t>
            </a:r>
            <a:endParaRPr sz="4050" b="1">
              <a:solidFill>
                <a:srgbClr val="F5D7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74"/>
          <p:cNvSpPr>
            <a:spLocks noGrp="1"/>
          </p:cNvSpPr>
          <p:nvPr/>
        </p:nvSpPr>
        <p:spPr>
          <a:xfrm>
            <a:off x="742950" y="300037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选择正在课文或阅读中遇到的词。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775"/>
          <p:cNvSpPr>
            <a:spLocks noGrp="1"/>
          </p:cNvSpPr>
          <p:nvPr/>
        </p:nvSpPr>
        <p:spPr>
          <a:xfrm>
            <a:off x="742950" y="3962400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每词保留读音、必要提示和一个语境。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76"/>
          <p:cNvSpPr>
            <a:spLocks noGrp="1"/>
          </p:cNvSpPr>
          <p:nvPr/>
        </p:nvSpPr>
        <p:spPr>
          <a:xfrm>
            <a:off x="742950" y="492442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一周后做听写与造句，
根据错误继续调整方法。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2157</Words>
  <Application>WPS 演示</Application>
  <PresentationFormat>Converted Presentation</PresentationFormat>
  <Paragraphs>317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Threadman</cp:lastModifiedBy>
  <cp:revision>1</cp:revision>
  <dcterms:created xsi:type="dcterms:W3CDTF">2026-09-19T12:30:38Z</dcterms:created>
  <dcterms:modified xsi:type="dcterms:W3CDTF">2026-09-19T12:30:38Z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D0E55214C13949AA977FA0ABA4B00216</vt:lpwstr>
  </property>
  <property fmtid="{D5CDD505-2E9C-101B-9397-08002B2CF9AE}" pid="3" name="KSOProductBuildVer">
    <vt:lpwstr>2052-11.8.2.12265</vt:lpwstr>
  </property>
</Properties>
</file>