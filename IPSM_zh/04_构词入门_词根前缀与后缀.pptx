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建议45分钟。以高频透明构词起步，再进入词根词族。无需预先背大量词根表。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  <a:p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read本课为现在时/riːd/，reader /ˈriː.də/。先请学生解释两词之间的联系。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句子This tip is helpful. 让学生说明helpful在句中描述什么。构词讲解使用加号，不改变词的正式拼写。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不要把每个词都硬套成三个部分。helpful没有前缀，help可以独立成词。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让学生朗读，再解释read的意义。-ing的具体语法作用由句子确定，例如She is reading. 为进行时结构。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un-也可以表示反向动作，如untie，不要把所有un-机械译为“不”。此阶段只教否定义。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对比red等词说明看到re并不一定有前缀。re-只在有构词根据时拆出。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教师读出 /ˌmɪs.ʌn.dəˈstænd/。misunderstood为不规则过去式，不要求学生在此推导understand内部结构。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两个例子不能只用“充满关心/没有关心”的字面组合替代词典意义。说明词根释义是线索。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-er也见于比较级，如taller，不能一见er就判定为“人”。下一课将解释形容词变化。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-ly并不总构成副词，friendly常为形容词。本页先讲常见模式，教师口头指出存在例外。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区别常用单词port“港口”与词根port的构词用途。此处不宣称含port的所有词都能按同一种方式理解。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不把active硬说成act加固定独立词。用于词族观察；扩展activity留给进阶课。action /ˈæk.ʃən/，active /ˈæk.tɪv/。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answer is unhelpful. 请学生指出字面猜测与句中意义相符。没有把握的拆分应查词典，不补造词源故事。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学生先写拆分，再给句中释义。答案见下一页，kindness为不可数名词的这一用法。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鼓励说出完整搭配careless mistake，不只背careless=粗心。rewrite不要求字字对应重读位置。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答案：teacher老师，-er表人；taller更高的，-er是比较级词尾；friendly通常为形容词。此页是边界训练，不引入更多词缀表。</a:t>
            </a:r>
          </a:p>
          <a:p>
            <a:r>
              <a:t>教学核对来源：https://dictionary.cambridge.org/us/grammar/british-grammar/word-formation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答案可包括helpful/unhelpful，careful/careless，reader/reread。勿为凑词族自行造不存在的词。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259"/>
          <p:cNvSpPr>
            <a:spLocks noGrp="1"/>
          </p:cNvSpPr>
          <p:nvPr/>
        </p:nvSpPr>
        <p:spPr>
          <a:xfrm>
            <a:off x="685800" y="66675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音形意统一记忆法   /   第 04 课</a:t>
            </a:r>
            <a:endParaRPr sz="1800" b="0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60"/>
          <p:cNvSpPr>
            <a:spLocks noGrp="1"/>
          </p:cNvSpPr>
          <p:nvPr/>
        </p:nvSpPr>
        <p:spPr>
          <a:xfrm>
            <a:off x="685800" y="1952625"/>
            <a:ext cx="70485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词根、前缀
与后缀</a:t>
            </a:r>
            <a:endParaRPr sz="57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61"/>
          <p:cNvSpPr>
            <a:spLocks noGrp="1"/>
          </p:cNvSpPr>
          <p:nvPr/>
        </p:nvSpPr>
        <p:spPr>
          <a:xfrm>
            <a:off x="723900" y="48577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构词入门 · 让单词的组成帮助理解</a:t>
            </a:r>
            <a:endParaRPr sz="2100" b="0">
              <a:solidFill>
                <a:srgbClr val="315E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26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学习目标与先备知识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6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64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    reader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65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66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先能读出熟悉词，并观察它的拼写。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67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68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本课辨认前缀、词根或基础词、后缀。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69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70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根据构词提出词义猜测，再用语境确认。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7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一个熟悉词可以成为构词基础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7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7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 + -ful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7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help：帮助。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7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-ful：在这里构成形容词。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7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helpful：有帮助的。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7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前缀与后缀的位置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7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79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 + help + ful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80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前缀在前：un-。
这里表示否定。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81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基础部分：help。
保留“帮助”的意义。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82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后缀在后：-ful。
unhelpful 表示无帮助的。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8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音节划分与构词划分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8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85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reading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86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发音上：两个音节。
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/ˈriː.dɪŋ/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87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构词上：read + -ing。
把基础词和词尾连起来。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88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构词边界不必与音节边界重合。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8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否定前缀 un-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9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9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     unhappy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9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happy：开心的。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9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unhappy：不开心的。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9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 is unhappy today.
用句子确认此处是情绪描述。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9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重复前缀 re-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9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9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     reread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9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read：读。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9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reread：再读。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0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Please reread the sentence.
请再读一遍这个句子。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0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错误前缀 mis-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0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0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understand
misunderstand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0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understand：理解。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0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misunderstand：误解。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0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misunderstood your question.
句中用了过去式。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0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常见形容词后缀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0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09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09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careful     careless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10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 + -ful：仔细的、小心的。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11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 + -less：粗心的、不小心的。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12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词义要结合实际用法。
a careful driver / a careless mistake。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1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常见名词后缀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1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15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    kindness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16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 + -er：教的人，老师。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17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kind + -ness：善良这一品质。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18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后缀提示词类与词义。
仍需用词典和句子确认。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1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-ly 的常见作用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2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2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    slowly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2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slow：慢的。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2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slowly：慢慢地。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2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bus moves slowly.
slowly 描述 moves 的方式。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2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不能独立使用的词根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2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2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2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 port 与“搬运”相关。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2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transport：运输。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3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portable：可携带的。
共同部分帮助组织词族。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3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词族让新词有位置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3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3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    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action    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3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act：做、行动。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3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action：行动。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3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active：活跃的。
词形、词性和读音一起记录。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33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构词猜词的三个步骤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3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39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unhelpful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40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41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先找熟悉基础：help。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42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343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再看两侧：un- 与 -ful。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344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45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放回句子，核对是否表示“无帮助的”。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346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练习：拆开，再放回句子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47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48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rewrite   careless   kindness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49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50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Please rewrite this sentence.
rewrite 怎样理解？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51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352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was a careless mistake.
careless 描述什么？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353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54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 for your kindness.
kindness 是什么词类？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35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练习讲解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5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57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构词线索需要语境确认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58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59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 + write：重写这个句子。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60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361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 + -less：粗心的，描述 mistake。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362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63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kind + -ness：善良，名词。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36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离堂任务：判断能否直接套规则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6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66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  taller   friendly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67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68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的 -er 表示什么？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69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370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taller 的 -er 也表示“人”吗？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371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72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friendly 一定是副词吗？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E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7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课后任务与下一课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7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/  18</a:t>
            </a:r>
            <a:endParaRPr sz="14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75"/>
          <p:cNvSpPr>
            <a:spLocks noGrp="1"/>
          </p:cNvSpPr>
          <p:nvPr/>
        </p:nvSpPr>
        <p:spPr>
          <a:xfrm>
            <a:off x="723900" y="17526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每次积累一个小词族</a:t>
            </a:r>
            <a:endParaRPr sz="4050" b="1">
              <a:solidFill>
                <a:srgbClr val="F5D7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76"/>
          <p:cNvSpPr>
            <a:spLocks noGrp="1"/>
          </p:cNvSpPr>
          <p:nvPr/>
        </p:nvSpPr>
        <p:spPr>
          <a:xfrm>
            <a:off x="742950" y="300037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 help、care、read 的常见派生词。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77"/>
          <p:cNvSpPr>
            <a:spLocks noGrp="1"/>
          </p:cNvSpPr>
          <p:nvPr/>
        </p:nvSpPr>
        <p:spPr>
          <a:xfrm>
            <a:off x="742950" y="39624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每个词至少配一个短句或搭配。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78"/>
          <p:cNvSpPr>
            <a:spLocks noGrp="1"/>
          </p:cNvSpPr>
          <p:nvPr/>
        </p:nvSpPr>
        <p:spPr>
          <a:xfrm>
            <a:off x="742950" y="492442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下一课：词缀连接时的拼写变化。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1708</Words>
  <Application>WPS 演示</Application>
  <PresentationFormat>Converted Presentation</PresentationFormat>
  <Paragraphs>242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1</cp:revision>
  <dcterms:created xsi:type="dcterms:W3CDTF">2026-09-19T12:27:58Z</dcterms:created>
  <dcterms:modified xsi:type="dcterms:W3CDTF">2026-09-19T12:27:58Z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0726B16643A34BA881AD2B0FDA7B876B</vt:lpwstr>
  </property>
  <property fmtid="{D5CDD505-2E9C-101B-9397-08002B2CF9AE}" pid="3" name="KSOProductBuildVer">
    <vt:lpwstr>2052-11.8.2.12265</vt:lpwstr>
  </property>
</Properties>
</file>