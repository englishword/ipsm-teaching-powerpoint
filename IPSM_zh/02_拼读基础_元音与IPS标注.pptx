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c90f60e7f64baa" /><Relationship Type="http://schemas.openxmlformats.org/officeDocument/2006/relationships/extended-properties" Target="/docProps/app.xml" Id="R3ac3e87d0b154f22" /><Relationship Type="http://schemas.openxmlformats.org/officeDocument/2006/relationships/officeDocument" Target="/ppt/presentation.xml" Id="R0fb075c81a3b48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52602119244bb6"/>
  </p:sldMasterIdLst>
  <p:notesMasterIdLst>
    <p:notesMasterId xmlns:r="http://schemas.openxmlformats.org/officeDocument/2006/relationships" r:id="Rd684d31a2a1840fa"/>
  </p:notesMasterIdLst>
  <p:sldIdLst>
    <p:sldId xmlns:r="http://schemas.openxmlformats.org/officeDocument/2006/relationships" id="256" r:id="R923cf9c9a89147e2"/>
    <p:sldId xmlns:r="http://schemas.openxmlformats.org/officeDocument/2006/relationships" id="257" r:id="R74d44cb4fa224c52"/>
    <p:sldId xmlns:r="http://schemas.openxmlformats.org/officeDocument/2006/relationships" id="258" r:id="Rd7e919d7349445d5"/>
    <p:sldId xmlns:r="http://schemas.openxmlformats.org/officeDocument/2006/relationships" id="259" r:id="Rac2f6148faa94fcb"/>
    <p:sldId xmlns:r="http://schemas.openxmlformats.org/officeDocument/2006/relationships" id="260" r:id="Ra6838e1510864c79"/>
    <p:sldId xmlns:r="http://schemas.openxmlformats.org/officeDocument/2006/relationships" id="261" r:id="R01ceb0006f734e5e"/>
    <p:sldId xmlns:r="http://schemas.openxmlformats.org/officeDocument/2006/relationships" id="262" r:id="Re42f7b0e09214638"/>
    <p:sldId xmlns:r="http://schemas.openxmlformats.org/officeDocument/2006/relationships" id="263" r:id="R09c54054a0064535"/>
    <p:sldId xmlns:r="http://schemas.openxmlformats.org/officeDocument/2006/relationships" id="264" r:id="Re30bebe6bdb54640"/>
    <p:sldId xmlns:r="http://schemas.openxmlformats.org/officeDocument/2006/relationships" id="265" r:id="R93fa7656375743e2"/>
    <p:sldId xmlns:r="http://schemas.openxmlformats.org/officeDocument/2006/relationships" id="266" r:id="R4e16995d10764307"/>
    <p:sldId xmlns:r="http://schemas.openxmlformats.org/officeDocument/2006/relationships" id="267" r:id="Rb477b9e6b6a0479b"/>
    <p:sldId xmlns:r="http://schemas.openxmlformats.org/officeDocument/2006/relationships" id="268" r:id="R93a3f8cfbd6143cf"/>
    <p:sldId xmlns:r="http://schemas.openxmlformats.org/officeDocument/2006/relationships" id="269" r:id="R561fe86e653f4ce5"/>
    <p:sldId xmlns:r="http://schemas.openxmlformats.org/officeDocument/2006/relationships" id="270" r:id="R6f8801954bc24054"/>
    <p:sldId xmlns:r="http://schemas.openxmlformats.org/officeDocument/2006/relationships" id="271" r:id="Rb8237c780fb84cd2"/>
    <p:sldId xmlns:r="http://schemas.openxmlformats.org/officeDocument/2006/relationships" id="272" r:id="R57995fcd380040f2"/>
    <p:sldId xmlns:r="http://schemas.openxmlformats.org/officeDocument/2006/relationships" id="273" r:id="Rfc45342d05cb4d17"/>
    <p:sldId xmlns:r="http://schemas.openxmlformats.org/officeDocument/2006/relationships" id="274" r:id="R67dd1bfa362046b0"/>
    <p:sldId xmlns:r="http://schemas.openxmlformats.org/officeDocument/2006/relationships" id="275" r:id="R8bf9c59f076c40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d985026b364861" /><Relationship Type="http://schemas.openxmlformats.org/officeDocument/2006/relationships/slideMaster" Target="/ppt/slideMasters/slideMaster1.xml" Id="R1652602119244bb6" /><Relationship Type="http://schemas.openxmlformats.org/officeDocument/2006/relationships/notesMaster" Target="/ppt/notesMasters/notesMaster1.xml" Id="Rd684d31a2a1840fa" /><Relationship Type="http://schemas.openxmlformats.org/officeDocument/2006/relationships/presProps" Target="/ppt/presProps.xml" Id="R6c448973b59247ae" /><Relationship Type="http://schemas.openxmlformats.org/officeDocument/2006/relationships/tableStyles" Target="/ppt/tableStyles.xml" Id="Rf436d7c0940049c7" /><Relationship Type="http://schemas.openxmlformats.org/officeDocument/2006/relationships/slide" Target="/ppt/slides/slide1.xml" Id="R923cf9c9a89147e2" /><Relationship Type="http://schemas.openxmlformats.org/officeDocument/2006/relationships/slide" Target="/ppt/slides/slide2.xml" Id="R74d44cb4fa224c52" /><Relationship Type="http://schemas.openxmlformats.org/officeDocument/2006/relationships/slide" Target="/ppt/slides/slide3.xml" Id="Rd7e919d7349445d5" /><Relationship Type="http://schemas.openxmlformats.org/officeDocument/2006/relationships/slide" Target="/ppt/slides/slide4.xml" Id="Rac2f6148faa94fcb" /><Relationship Type="http://schemas.openxmlformats.org/officeDocument/2006/relationships/slide" Target="/ppt/slides/slide5.xml" Id="Ra6838e1510864c79" /><Relationship Type="http://schemas.openxmlformats.org/officeDocument/2006/relationships/slide" Target="/ppt/slides/slide6.xml" Id="R01ceb0006f734e5e" /><Relationship Type="http://schemas.openxmlformats.org/officeDocument/2006/relationships/slide" Target="/ppt/slides/slide7.xml" Id="Re42f7b0e09214638" /><Relationship Type="http://schemas.openxmlformats.org/officeDocument/2006/relationships/slide" Target="/ppt/slides/slide8.xml" Id="R09c54054a0064535" /><Relationship Type="http://schemas.openxmlformats.org/officeDocument/2006/relationships/slide" Target="/ppt/slides/slide9.xml" Id="Re30bebe6bdb54640" /><Relationship Type="http://schemas.openxmlformats.org/officeDocument/2006/relationships/slide" Target="/ppt/slides/slide10.xml" Id="R93fa7656375743e2" /><Relationship Type="http://schemas.openxmlformats.org/officeDocument/2006/relationships/slide" Target="/ppt/slides/slide11.xml" Id="R4e16995d10764307" /><Relationship Type="http://schemas.openxmlformats.org/officeDocument/2006/relationships/slide" Target="/ppt/slides/slide12.xml" Id="Rb477b9e6b6a0479b" /><Relationship Type="http://schemas.openxmlformats.org/officeDocument/2006/relationships/slide" Target="/ppt/slides/slide13.xml" Id="R93a3f8cfbd6143cf" /><Relationship Type="http://schemas.openxmlformats.org/officeDocument/2006/relationships/slide" Target="/ppt/slides/slide14.xml" Id="R561fe86e653f4ce5" /><Relationship Type="http://schemas.openxmlformats.org/officeDocument/2006/relationships/slide" Target="/ppt/slides/slide15.xml" Id="R6f8801954bc24054" /><Relationship Type="http://schemas.openxmlformats.org/officeDocument/2006/relationships/slide" Target="/ppt/slides/slide16.xml" Id="Rb8237c780fb84cd2" /><Relationship Type="http://schemas.openxmlformats.org/officeDocument/2006/relationships/slide" Target="/ppt/slides/slide17.xml" Id="R57995fcd380040f2" /><Relationship Type="http://schemas.openxmlformats.org/officeDocument/2006/relationships/slide" Target="/ppt/slides/slide18.xml" Id="Rfc45342d05cb4d17" /><Relationship Type="http://schemas.openxmlformats.org/officeDocument/2006/relationships/slide" Target="/ppt/slides/slide19.xml" Id="R67dd1bfa362046b0" /><Relationship Type="http://schemas.openxmlformats.org/officeDocument/2006/relationships/slide" Target="/ppt/slides/slide20.xml" Id="R8bf9c59f076c40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2a574c897a48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56fa0f0c424ec1" /><Relationship Type="http://schemas.openxmlformats.org/officeDocument/2006/relationships/notesMaster" Target="/ppt/notesMasters/notesMaster1.xml" Id="R3175a992972845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62d163e6ab4f22" /><Relationship Type="http://schemas.openxmlformats.org/officeDocument/2006/relationships/notesMaster" Target="/ppt/notesMasters/notesMaster1.xml" Id="R73194dd22a0547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8ff6314cfb4fcf" /><Relationship Type="http://schemas.openxmlformats.org/officeDocument/2006/relationships/notesMaster" Target="/ppt/notesMasters/notesMaster1.xml" Id="R5b6a7df21cb342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2183cf69d642ca" /><Relationship Type="http://schemas.openxmlformats.org/officeDocument/2006/relationships/notesMaster" Target="/ppt/notesMasters/notesMaster1.xml" Id="R5cc36b248c6f41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436b17e0604957" /><Relationship Type="http://schemas.openxmlformats.org/officeDocument/2006/relationships/notesMaster" Target="/ppt/notesMasters/notesMaster1.xml" Id="Rec510470d8dd40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1a6be7466b4dc9" /><Relationship Type="http://schemas.openxmlformats.org/officeDocument/2006/relationships/notesMaster" Target="/ppt/notesMasters/notesMaster1.xml" Id="R4890585151a344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57e3cea6434058" /><Relationship Type="http://schemas.openxmlformats.org/officeDocument/2006/relationships/notesMaster" Target="/ppt/notesMasters/notesMaster1.xml" Id="R3a2eb809c2e645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a4579cd2a14bbf" /><Relationship Type="http://schemas.openxmlformats.org/officeDocument/2006/relationships/notesMaster" Target="/ppt/notesMasters/notesMaster1.xml" Id="Rcbbf998d1b5042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08768eb0504c7a" /><Relationship Type="http://schemas.openxmlformats.org/officeDocument/2006/relationships/notesMaster" Target="/ppt/notesMasters/notesMaster1.xml" Id="R9b450a96921a49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626c6b3c874925" /><Relationship Type="http://schemas.openxmlformats.org/officeDocument/2006/relationships/notesMaster" Target="/ppt/notesMasters/notesMaster1.xml" Id="Rc55494b4fd3c4d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9ef27a5f514e13" /><Relationship Type="http://schemas.openxmlformats.org/officeDocument/2006/relationships/notesMaster" Target="/ppt/notesMasters/notesMaster1.xml" Id="Rb52a9a0ea1794f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db058aa8cb4ee5" /><Relationship Type="http://schemas.openxmlformats.org/officeDocument/2006/relationships/notesMaster" Target="/ppt/notesMasters/notesMaster1.xml" Id="R5ad205a198fe42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279a7d4b9649cc" /><Relationship Type="http://schemas.openxmlformats.org/officeDocument/2006/relationships/notesMaster" Target="/ppt/notesMasters/notesMaster1.xml" Id="R49844b229b254c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652919edf748c1" /><Relationship Type="http://schemas.openxmlformats.org/officeDocument/2006/relationships/notesMaster" Target="/ppt/notesMasters/notesMaster1.xml" Id="R41ab827c798142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8dcf709dea4734" /><Relationship Type="http://schemas.openxmlformats.org/officeDocument/2006/relationships/notesMaster" Target="/ppt/notesMasters/notesMaster1.xml" Id="R670ebd64804d47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d35ca54551456b" /><Relationship Type="http://schemas.openxmlformats.org/officeDocument/2006/relationships/notesMaster" Target="/ppt/notesMasters/notesMaster1.xml" Id="R978780ca91bc4b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ea9736acd04f14" /><Relationship Type="http://schemas.openxmlformats.org/officeDocument/2006/relationships/notesMaster" Target="/ppt/notesMasters/notesMaster1.xml" Id="R8706b60c86564b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c3b80f8b85466d" /><Relationship Type="http://schemas.openxmlformats.org/officeDocument/2006/relationships/notesMaster" Target="/ppt/notesMasters/notesMaster1.xml" Id="R1081ac4d60db43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5377d2984e14c48" /><Relationship Type="http://schemas.openxmlformats.org/officeDocument/2006/relationships/notesMaster" Target="/ppt/notesMasters/notesMaster1.xml" Id="R6839b46dd7494d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626f32d55c40bb" /><Relationship Type="http://schemas.openxmlformats.org/officeDocument/2006/relationships/notesMaster" Target="/ppt/notesMasters/notesMaster1.xml" Id="Rc1c497c12d3546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建议45–60分钟，可分两课。先掌握常见单音节词，再介绍轻音与弱音。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  <a:p xmlns:a="http://schemas.openxmlformats.org/drawingml/2006/main">
            <a:r>
              <a:t>封面背景：OpenAI内置图像生成工具生成的教学插画。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热身答案：name中a读/eɪ/，cat中a读/æ/。不要求在本课掌握所有元音组合。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这是项目记号约定，不是IPA通用符号。无标记不保证所有词的元音都能按闭音规则直接读。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逐词自然示范再拆分。原文用/i/涵盖部分轻音和短元音，本课用现代词典/ɪ/与/i/区分。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采用英式教学基准。美式hot常为/hɑːt/，勿在此无标记混用。/ʌ/与/ɒ/的口形和音质不同。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中文：cap帽子，cape披风或海角。先突出读音对照，意义可由教师给出。不能概括为所有尾e词都读字母音。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kit工具包，kite风筝。bit /bɪt/，bite /baɪt/。学生先读左词再读右词，听清/aɪ/的滑动。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英式note /nəʊt/，hope /həʊp/。原文/əu/在课件中规范为/əʊ/。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以me、go说明绝对开音节入门现象。do、to等需要另外学习，不能只看词尾判定。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use作动词为/juːz/，本页仅讲名词。标注系统简化不代表这两个音完全相同。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2分钟配对，1分钟同伴互读。教师重点检查/eɪ aɪ əʊ/的音质。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四组词尾e均不单独发音。进一步让学生合上课件听写一组，避免只会认读。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项目把点称为轻音符。强调“轻音”是本资料术语；/ɪ/本身并不必然是不重读音。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[åbout]是本页只提示a的局部标注，完整标注见第03课[åbòut]。使用本页时说明尚未标出ou。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先听教师交替读begin/about。不要把弱读说成可以随意含混，保留词典规定的音质。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辅音拼读不等于念字母名。英语辅音和汉语拼音不能全面等同；教师示范纯辅音。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与原文例外提示衔接。让学生在学习记录里标明have是本课模式的例外，而不是强行加横线。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答案：横线；/ɪ/；e加点，a加圈。先独立书写，再翻页核对。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begin/about本页为局部标注。问学生：为什么不能只凭有没有符号决定重音？预告下一课单独听辨重音。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每天约5–10分钟。掌握标准：能读出3组对照词，能解释点与圈的不同，并记住have例外。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授课提示：先让学生观察或尝试，再讨论本页例词。明确指出读音、拼写与意义的联系。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原始资料：</a:t>
            </a:r>
          </a:p>
          <a:p xmlns:a="http://schemas.openxmlformats.org/drawingml/2006/main">
            <a:r>
              <a:t>documents_zh/01-ips-symbols.md</a:t>
            </a:r>
          </a:p>
          <a:p xmlns:a="http://schemas.openxmlformats.org/drawingml/2006/main">
            <a:r>
              <a:t>documents_zh/04-ips-notation.md</a:t>
            </a:r>
          </a:p>
          <a:p xmlns:a="http://schemas.openxmlformats.org/drawingml/2006/main">
            <a:r>
              <a:t>documents_zh/09-easy-pronunciation.md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8f394da0143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a7da4834c845a4" /><Relationship Type="http://schemas.openxmlformats.org/officeDocument/2006/relationships/slideLayout" Target="/ppt/slideLayouts/slideLayout1.xml" Id="Ra6ee96968bf04f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ee96968bf04f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dd01665314124" /><Relationship Type="http://schemas.openxmlformats.org/officeDocument/2006/relationships/image" Target="/ppt/media/image.png" Id="R3c091a08ff6443b9" /><Relationship Type="http://schemas.openxmlformats.org/officeDocument/2006/relationships/notesSlide" Target="/ppt/notesSlides/notesSlide1.xml" Id="R43ebf37d455b41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188bf01eb4afa" /><Relationship Type="http://schemas.openxmlformats.org/officeDocument/2006/relationships/notesSlide" Target="/ppt/notesSlides/notesSlide2.xml" Id="Rb9716bd248c841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2d2e27c6f448e" /><Relationship Type="http://schemas.openxmlformats.org/officeDocument/2006/relationships/notesSlide" Target="/ppt/notesSlides/notesSlide3.xml" Id="Rd8495b8262da4e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0042e723948b2" /><Relationship Type="http://schemas.openxmlformats.org/officeDocument/2006/relationships/notesSlide" Target="/ppt/notesSlides/notesSlide4.xml" Id="R9eb00f99e66146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2bd7f074e4735" /><Relationship Type="http://schemas.openxmlformats.org/officeDocument/2006/relationships/notesSlide" Target="/ppt/notesSlides/notesSlide5.xml" Id="Ra0429aa1ba604e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765e1d9e3431f" /><Relationship Type="http://schemas.openxmlformats.org/officeDocument/2006/relationships/notesSlide" Target="/ppt/notesSlides/notesSlide6.xml" Id="Rfe99da7df0504f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cc006403546a0" /><Relationship Type="http://schemas.openxmlformats.org/officeDocument/2006/relationships/notesSlide" Target="/ppt/notesSlides/notesSlide7.xml" Id="R2ddb16eba3184b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6d636632f4bf5" /><Relationship Type="http://schemas.openxmlformats.org/officeDocument/2006/relationships/notesSlide" Target="/ppt/notesSlides/notesSlide8.xml" Id="Rba5f694cb11148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68a1d60ad4bf7" /><Relationship Type="http://schemas.openxmlformats.org/officeDocument/2006/relationships/notesSlide" Target="/ppt/notesSlides/notesSlide9.xml" Id="Rabafc82c2b8645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452be65fe44cc" /><Relationship Type="http://schemas.openxmlformats.org/officeDocument/2006/relationships/notesSlide" Target="/ppt/notesSlides/notesSlide10.xml" Id="R82c838e381c849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8793a7884471b" /><Relationship Type="http://schemas.openxmlformats.org/officeDocument/2006/relationships/notesSlide" Target="/ppt/notesSlides/notesSlide11.xml" Id="Rf0e3d3c11ee742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280af5437464e" /><Relationship Type="http://schemas.openxmlformats.org/officeDocument/2006/relationships/notesSlide" Target="/ppt/notesSlides/notesSlide12.xml" Id="R2cc98873b7e449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f33da0a32483d" /><Relationship Type="http://schemas.openxmlformats.org/officeDocument/2006/relationships/notesSlide" Target="/ppt/notesSlides/notesSlide13.xml" Id="R6ba5bf12d66645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169d352dc41ef" /><Relationship Type="http://schemas.openxmlformats.org/officeDocument/2006/relationships/notesSlide" Target="/ppt/notesSlides/notesSlide14.xml" Id="Rcfe8cf2066c54f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ce4ed43454e49" /><Relationship Type="http://schemas.openxmlformats.org/officeDocument/2006/relationships/notesSlide" Target="/ppt/notesSlides/notesSlide15.xml" Id="Rf7bd6f0891934e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71ec0ce7741e9" /><Relationship Type="http://schemas.openxmlformats.org/officeDocument/2006/relationships/notesSlide" Target="/ppt/notesSlides/notesSlide16.xml" Id="R5de0b072be7047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abc40c14a4e18" /><Relationship Type="http://schemas.openxmlformats.org/officeDocument/2006/relationships/notesSlide" Target="/ppt/notesSlides/notesSlide17.xml" Id="R2ca726d60c3447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a8eadb1f2400b" /><Relationship Type="http://schemas.openxmlformats.org/officeDocument/2006/relationships/notesSlide" Target="/ppt/notesSlides/notesSlide18.xml" Id="R10151dbba08a4ab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fdd63400f42c5" /><Relationship Type="http://schemas.openxmlformats.org/officeDocument/2006/relationships/notesSlide" Target="/ppt/notesSlides/notesSlide19.xml" Id="R7555c8b4ee764b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dba1fe48b4899" /><Relationship Type="http://schemas.openxmlformats.org/officeDocument/2006/relationships/notesSlide" Target="/ppt/notesSlides/notesSlide20.xml" Id="R298f4c9f20744c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91a08ff6443b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15D98D5-4C7A-454F-BAF2-91BBF829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音形意统一记忆法   /   第 02 课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68F779F-B5B0-44A4-BE7E-A8A26F65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048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元音与
IPS 标注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CD0E7A7-20E8-4C64-99C1-E8E10971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5E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15E4D"/>
                </a:solidFill>
                <a:latin typeface="Microsoft YaHei"/>
                <a:ea typeface="Microsoft YaHei"/>
                <a:cs typeface="Microsoft YaHei"/>
              </a:rPr>
              <a:t>基础课 · 在单词里看见读音</a:t>
            </a:r>
          </a:p>
        </p:txBody>
      </p:sp>
    </p:spTree>
    <p:extLst>
      <p:ext uri="{BB962C8B-B14F-4D97-AF65-F5344CB8AC3E}">
        <p14:creationId xmlns:p14="http://schemas.microsoft.com/office/powerpoint/2010/main" val="1241166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4">
            <a:extLst xmlns:a="http://schemas.openxmlformats.org/drawingml/2006/main">
              <a:ext uri="{FF2B5EF4-FFF2-40B4-BE49-F238E27FC236}">
                <a16:creationId xmlns:a16="http://schemas.microsoft.com/office/drawing/2014/main" id="{8B69A44C-743A-4DD3-81E3-60824AFE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本课目标与热身</a:t>
            </a:r>
          </a:p>
        </p:txBody>
      </p:sp>
      <p:sp>
        <p:nvSpPr>
          <p:cNvPr id="2" name="text-5">
            <a:extLst xmlns:a="http://schemas.openxmlformats.org/drawingml/2006/main">
              <a:ext uri="{FF2B5EF4-FFF2-40B4-BE49-F238E27FC236}">
                <a16:creationId xmlns:a16="http://schemas.microsoft.com/office/drawing/2014/main" id="{B509782E-21E8-4603-A9F5-F808DE78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02</a:t>
            </a:r>
          </a:p>
        </p:txBody>
      </p:sp>
      <p:sp>
        <p:nvSpPr>
          <p:cNvPr id="3" name="text-6">
            <a:extLst xmlns:a="http://schemas.openxmlformats.org/drawingml/2006/main">
              <a:ext uri="{FF2B5EF4-FFF2-40B4-BE49-F238E27FC236}">
                <a16:creationId xmlns:a16="http://schemas.microsoft.com/office/drawing/2014/main" id="{0E398F15-FA45-4A2F-950B-0FECC5CF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name    cat</a:t>
            </a:r>
          </a:p>
        </p:txBody>
      </p:sp>
      <p:sp>
        <p:nvSpPr>
          <p:cNvPr id="4" name="text-7">
            <a:extLst xmlns:a="http://schemas.openxmlformats.org/drawingml/2006/main">
              <a:ext uri="{FF2B5EF4-FFF2-40B4-BE49-F238E27FC236}">
                <a16:creationId xmlns:a16="http://schemas.microsoft.com/office/drawing/2014/main" id="{17B5D855-E8C3-4143-840C-DB743C1C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8">
            <a:extLst xmlns:a="http://schemas.openxmlformats.org/drawingml/2006/main">
              <a:ext uri="{FF2B5EF4-FFF2-40B4-BE49-F238E27FC236}">
                <a16:creationId xmlns:a16="http://schemas.microsoft.com/office/drawing/2014/main" id="{95013B34-50F2-4335-9293-21BF952E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432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回顾：字母名和字母音有什么区别？</a:t>
            </a:r>
          </a:p>
        </p:txBody>
      </p:sp>
      <p:sp>
        <p:nvSpPr>
          <p:cNvPr id="6" name="text-9">
            <a:extLst xmlns:a="http://schemas.openxmlformats.org/drawingml/2006/main">
              <a:ext uri="{FF2B5EF4-FFF2-40B4-BE49-F238E27FC236}">
                <a16:creationId xmlns:a16="http://schemas.microsoft.com/office/drawing/2014/main" id="{256D2280-CF05-4FC9-AE64-6B714B89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10">
            <a:extLst xmlns:a="http://schemas.openxmlformats.org/drawingml/2006/main">
              <a:ext uri="{FF2B5EF4-FFF2-40B4-BE49-F238E27FC236}">
                <a16:creationId xmlns:a16="http://schemas.microsoft.com/office/drawing/2014/main" id="{4177BEF7-71C3-4A6C-9897-C8F948D4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338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目标：读懂四种常用元音提示。</a:t>
            </a:r>
          </a:p>
        </p:txBody>
      </p:sp>
      <p:sp>
        <p:nvSpPr>
          <p:cNvPr id="8" name="text-11">
            <a:extLst xmlns:a="http://schemas.openxmlformats.org/drawingml/2006/main">
              <a:ext uri="{FF2B5EF4-FFF2-40B4-BE49-F238E27FC236}">
                <a16:creationId xmlns:a16="http://schemas.microsoft.com/office/drawing/2014/main" id="{0A86A392-8091-4A69-B78C-C0AEBEFF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text-12">
            <a:extLst xmlns:a="http://schemas.openxmlformats.org/drawingml/2006/main">
              <a:ext uri="{FF2B5EF4-FFF2-40B4-BE49-F238E27FC236}">
                <a16:creationId xmlns:a16="http://schemas.microsoft.com/office/drawing/2014/main" id="{9B7F4C38-EADA-42A6-B9DD-69F9D142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244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目标：比较单音节词，并解释词尾 e。</a:t>
            </a:r>
          </a:p>
        </p:txBody>
      </p:sp>
    </p:spTree>
    <p:extLst>
      <p:ext uri="{BB962C8B-B14F-4D97-AF65-F5344CB8AC3E}">
        <p14:creationId xmlns:p14="http://schemas.microsoft.com/office/powerpoint/2010/main" val="868470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4619717D-B3AC-453E-88C7-1A0C7201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IPS 常用元音提示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8C348953-A201-40F1-977A-F1A1EF64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03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10620375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381250"/>
                <a:gridCol w="4238625"/>
              </a:tblGrid>
              <a:tr h="723900">
                <a:tc>
                  <a:txBody>
                    <a:bodyPr lIns="171450" tIns="142875" rIns="11430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</a:t>
                      </a:r>
                    </a:p>
                  </a:txBody>
                  <a:tcPr marL="91440" marR="91440" marT="45720" marB="45720" anchor="ctr">
                    <a:solidFill>
                      <a:srgbClr val="315E4D"/>
                    </a:solidFill>
                  </a:tcPr>
                </a:tc>
                <a:tc>
                  <a:txBody>
                    <a:bodyPr lIns="171450" tIns="142875" rIns="11430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例词</a:t>
                      </a:r>
                    </a:p>
                  </a:txBody>
                  <a:tcPr marL="91440" marR="91440" marT="45720" marB="45720" anchor="ctr">
                    <a:solidFill>
                      <a:srgbClr val="315E4D"/>
                    </a:solidFill>
                  </a:tcPr>
                </a:tc>
                <a:tc>
                  <a:txBody>
                    <a:bodyPr lIns="171450" tIns="142875" rIns="11430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本课读音</a:t>
                      </a:r>
                    </a:p>
                  </a:txBody>
                  <a:tcPr marL="91440" marR="91440" marT="45720" marB="45720" anchor="ctr">
                    <a:solidFill>
                      <a:srgbClr val="315E4D"/>
                    </a:solidFill>
                  </a:tcPr>
                </a:tc>
              </a:tr>
              <a:tr h="723900"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横线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[nāme]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读 </a:t>
                      </a:r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/eɪ/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无标记</a:t>
                      </a:r>
                    </a:p>
                  </a:txBody>
                  <a:tcPr marL="91440" marR="91440" marT="45720" marB="45720" anchor="ctr">
                    <a:solidFill>
                      <a:srgbClr val="EFF1EA"/>
                    </a:solidFill>
                  </a:tcPr>
                </a:tc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[cat]</a:t>
                      </a:r>
                    </a:p>
                  </a:txBody>
                  <a:tcPr marL="91440" marR="91440" marT="45720" marB="45720" anchor="ctr">
                    <a:solidFill>
                      <a:srgbClr val="EFF1EA"/>
                    </a:solidFill>
                  </a:tcPr>
                </a:tc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读 </a:t>
                      </a:r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/æ/</a:t>
                      </a:r>
                    </a:p>
                  </a:txBody>
                  <a:tcPr marL="91440" marR="91440" marT="45720" marB="45720" anchor="ctr">
                    <a:solidFill>
                      <a:srgbClr val="EFF1EA"/>
                    </a:solidFill>
                  </a:tcPr>
                </a:tc>
              </a:tr>
              <a:tr h="723900"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圆点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[bėgin]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 读 </a:t>
                      </a:r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/ɪ/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圆圈</a:t>
                      </a:r>
                    </a:p>
                  </a:txBody>
                  <a:tcPr marL="91440" marR="91440" marT="45720" marB="45720" anchor="ctr">
                    <a:solidFill>
                      <a:srgbClr val="EFF1EA"/>
                    </a:solidFill>
                  </a:tcPr>
                </a:tc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[åbout]</a:t>
                      </a:r>
                    </a:p>
                  </a:txBody>
                  <a:tcPr marL="91440" marR="91440" marT="45720" marB="45720" anchor="ctr">
                    <a:solidFill>
                      <a:srgbClr val="EFF1EA"/>
                    </a:solidFill>
                  </a:tcPr>
                </a:tc>
                <a:tc>
                  <a:txBody>
                    <a:bodyPr lIns="171450" tIns="142875" rIns="114300" bIns="114300"/>
                    <a:lstStyle/>
                    <a:p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读 </a:t>
                      </a:r>
                      <a:r>
                        <a:rPr sz="2025" b="0">
                          <a:solidFill>
                            <a:srgbClr val="243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/ə/</a:t>
                      </a:r>
                    </a:p>
                  </a:txBody>
                  <a:tcPr marL="91440" marR="91440" marT="45720" marB="45720" anchor="ctr">
                    <a:solidFill>
                      <a:srgbClr val="EFF1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478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3999011C-C795-427E-9437-D5A6B2C3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闭音练习：先读熟短词</a:t>
            </a:r>
          </a:p>
        </p:txBody>
      </p:sp>
      <p:sp>
        <p:nvSpPr>
          <p:cNvPr id="2" name="text-16">
            <a:extLst xmlns:a="http://schemas.openxmlformats.org/drawingml/2006/main">
              <a:ext uri="{FF2B5EF4-FFF2-40B4-BE49-F238E27FC236}">
                <a16:creationId xmlns:a16="http://schemas.microsoft.com/office/drawing/2014/main" id="{0D2CEBE6-8BDC-41A7-9ABD-A7ED6816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04</a:t>
            </a:r>
          </a:p>
        </p:txBody>
      </p:sp>
      <p:sp>
        <p:nvSpPr>
          <p:cNvPr id="3" name="text-17">
            <a:extLst xmlns:a="http://schemas.openxmlformats.org/drawingml/2006/main">
              <a:ext uri="{FF2B5EF4-FFF2-40B4-BE49-F238E27FC236}">
                <a16:creationId xmlns:a16="http://schemas.microsoft.com/office/drawing/2014/main" id="{F8ADA2F9-BBA7-4C3B-8505-180454A2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667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cat   bed   sit</a:t>
            </a:r>
          </a:p>
        </p:txBody>
      </p:sp>
      <p:sp>
        <p:nvSpPr>
          <p:cNvPr id="4" name="text-18">
            <a:extLst xmlns:a="http://schemas.openxmlformats.org/drawingml/2006/main">
              <a:ext uri="{FF2B5EF4-FFF2-40B4-BE49-F238E27FC236}">
                <a16:creationId xmlns:a16="http://schemas.microsoft.com/office/drawing/2014/main" id="{F1898F28-A18D-450A-81DC-4B8A275F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cat 中 a：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/æ/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text-19">
            <a:extLst xmlns:a="http://schemas.openxmlformats.org/drawingml/2006/main">
              <a:ext uri="{FF2B5EF4-FFF2-40B4-BE49-F238E27FC236}">
                <a16:creationId xmlns:a16="http://schemas.microsoft.com/office/drawing/2014/main" id="{63FB2F20-18F6-4A31-B1F4-909D4E13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bed 中 e：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/e/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text-20">
            <a:extLst xmlns:a="http://schemas.openxmlformats.org/drawingml/2006/main">
              <a:ext uri="{FF2B5EF4-FFF2-40B4-BE49-F238E27FC236}">
                <a16:creationId xmlns:a16="http://schemas.microsoft.com/office/drawing/2014/main" id="{B6BA8C7A-5FC5-4A3B-A6E7-06ED0075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sit 中 i：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/ɪ/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04202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1">
            <a:extLst xmlns:a="http://schemas.openxmlformats.org/drawingml/2006/main">
              <a:ext uri="{FF2B5EF4-FFF2-40B4-BE49-F238E27FC236}">
                <a16:creationId xmlns:a16="http://schemas.microsoft.com/office/drawing/2014/main" id="{DA6FB3BB-27D1-45A6-9096-E990A7C5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另外两个常见闭音</a:t>
            </a:r>
          </a:p>
        </p:txBody>
      </p:sp>
      <p:sp>
        <p:nvSpPr>
          <p:cNvPr id="2" name="text-22">
            <a:extLst xmlns:a="http://schemas.openxmlformats.org/drawingml/2006/main">
              <a:ext uri="{FF2B5EF4-FFF2-40B4-BE49-F238E27FC236}">
                <a16:creationId xmlns:a16="http://schemas.microsoft.com/office/drawing/2014/main" id="{8BFA6EB9-3685-4C3F-A618-1F6B9C69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05</a:t>
            </a:r>
          </a:p>
        </p:txBody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9945B5C8-091A-45C8-8C29-5AD0121D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667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hot       cup</a:t>
            </a:r>
          </a:p>
        </p:txBody>
      </p:sp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674A3B79-337A-478F-BBDB-4EA003A6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hot 中 o：英式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/ɒ/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D15476D2-2587-4E3D-B4ED-86AA194A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cup 中 u：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/ʌ/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text-26">
            <a:extLst xmlns:a="http://schemas.openxmlformats.org/drawingml/2006/main">
              <a:ext uri="{FF2B5EF4-FFF2-40B4-BE49-F238E27FC236}">
                <a16:creationId xmlns:a16="http://schemas.microsoft.com/office/drawing/2014/main" id="{1832B427-0AB7-4674-AC0C-ECD06BB7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先听区别，再将读音连到拼写。</a:t>
            </a:r>
          </a:p>
        </p:txBody>
      </p:sp>
    </p:spTree>
    <p:extLst>
      <p:ext uri="{BB962C8B-B14F-4D97-AF65-F5344CB8AC3E}">
        <p14:creationId xmlns:p14="http://schemas.microsoft.com/office/powerpoint/2010/main" val="5776636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C9E53E2A-1C32-4F3B-A84B-2700BA09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a 与 a…e</a:t>
            </a:r>
          </a:p>
        </p:txBody>
      </p:sp>
      <p:sp>
        <p:nvSpPr>
          <p:cNvPr id="2" name="text-28">
            <a:extLst xmlns:a="http://schemas.openxmlformats.org/drawingml/2006/main">
              <a:ext uri="{FF2B5EF4-FFF2-40B4-BE49-F238E27FC236}">
                <a16:creationId xmlns:a16="http://schemas.microsoft.com/office/drawing/2014/main" id="{B739A30E-B5C3-45AC-8096-662625C0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06</a:t>
            </a:r>
          </a:p>
        </p:txBody>
      </p:sp>
      <p:sp>
        <p:nvSpPr>
          <p:cNvPr id="3" name="text-29">
            <a:extLst xmlns:a="http://schemas.openxmlformats.org/drawingml/2006/main">
              <a:ext uri="{FF2B5EF4-FFF2-40B4-BE49-F238E27FC236}">
                <a16:creationId xmlns:a16="http://schemas.microsoft.com/office/drawing/2014/main" id="{4F1C452A-3C6C-4FE1-936A-A3970FDD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cap      cape</a:t>
            </a:r>
          </a:p>
        </p:txBody>
      </p:sp>
      <p:sp>
        <p:nvSpPr>
          <p:cNvPr id="4" name="text-30">
            <a:extLst xmlns:a="http://schemas.openxmlformats.org/drawingml/2006/main">
              <a:ext uri="{FF2B5EF4-FFF2-40B4-BE49-F238E27FC236}">
                <a16:creationId xmlns:a16="http://schemas.microsoft.com/office/drawing/2014/main" id="{8AD045E0-992A-4B20-9A21-C94DAAF1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cap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/kæp/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
短词里 a 读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/æ/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text-31">
            <a:extLst xmlns:a="http://schemas.openxmlformats.org/drawingml/2006/main">
              <a:ext uri="{FF2B5EF4-FFF2-40B4-BE49-F238E27FC236}">
                <a16:creationId xmlns:a16="http://schemas.microsoft.com/office/drawing/2014/main" id="{7B5A5E99-6CC0-4A8D-9069-E341E937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cape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/keɪp/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
IPS：[cāpe]。</a:t>
            </a:r>
          </a:p>
        </p:txBody>
      </p:sp>
      <p:sp>
        <p:nvSpPr>
          <p:cNvPr id="6" name="text-32">
            <a:extLst xmlns:a="http://schemas.openxmlformats.org/drawingml/2006/main">
              <a:ext uri="{FF2B5EF4-FFF2-40B4-BE49-F238E27FC236}">
                <a16:creationId xmlns:a16="http://schemas.microsoft.com/office/drawing/2014/main" id="{AECF94FC-A2C1-4D9C-988F-D533D947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词尾 e 不单独发音。
它与前面的 a 构成常见拼写模式。</a:t>
            </a:r>
          </a:p>
        </p:txBody>
      </p:sp>
    </p:spTree>
    <p:extLst>
      <p:ext uri="{BB962C8B-B14F-4D97-AF65-F5344CB8AC3E}">
        <p14:creationId xmlns:p14="http://schemas.microsoft.com/office/powerpoint/2010/main" val="13903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3">
            <a:extLst xmlns:a="http://schemas.openxmlformats.org/drawingml/2006/main">
              <a:ext uri="{FF2B5EF4-FFF2-40B4-BE49-F238E27FC236}">
                <a16:creationId xmlns:a16="http://schemas.microsoft.com/office/drawing/2014/main" id="{73D1EFE3-21F6-4196-B2DF-80CFD41D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i 与 i…e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6284BF60-DA6B-4487-8BFB-7B429DB2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07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9211C78A-31FD-41A4-BC20-7B3EB3A4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kit       kite</a:t>
            </a:r>
          </a:p>
        </p:txBody>
      </p:sp>
      <p:sp>
        <p:nvSpPr>
          <p:cNvPr id="4" name="text-36">
            <a:extLst xmlns:a="http://schemas.openxmlformats.org/drawingml/2006/main">
              <a:ext uri="{FF2B5EF4-FFF2-40B4-BE49-F238E27FC236}">
                <a16:creationId xmlns:a16="http://schemas.microsoft.com/office/drawing/2014/main" id="{FFBEF0A3-5CAC-46A2-9F7D-6BFC9B44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kit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/kɪt/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
IPS：[kit]。</a:t>
            </a:r>
          </a:p>
        </p:txBody>
      </p:sp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0D0BAE57-858C-4C96-AA9C-A1D26C50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kite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/kaɪt/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
IPS：[kīte]。</a:t>
            </a:r>
          </a:p>
        </p:txBody>
      </p:sp>
      <p:sp>
        <p:nvSpPr>
          <p:cNvPr id="6" name="text-38">
            <a:extLst xmlns:a="http://schemas.openxmlformats.org/drawingml/2006/main">
              <a:ext uri="{FF2B5EF4-FFF2-40B4-BE49-F238E27FC236}">
                <a16:creationId xmlns:a16="http://schemas.microsoft.com/office/drawing/2014/main" id="{063DB709-B816-46AE-BB73-ACDEA308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同样比较：bit 与 bite。</a:t>
            </a:r>
          </a:p>
        </p:txBody>
      </p:sp>
    </p:spTree>
    <p:extLst>
      <p:ext uri="{BB962C8B-B14F-4D97-AF65-F5344CB8AC3E}">
        <p14:creationId xmlns:p14="http://schemas.microsoft.com/office/powerpoint/2010/main" val="10361697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9">
            <a:extLst xmlns:a="http://schemas.openxmlformats.org/drawingml/2006/main">
              <a:ext uri="{FF2B5EF4-FFF2-40B4-BE49-F238E27FC236}">
                <a16:creationId xmlns:a16="http://schemas.microsoft.com/office/drawing/2014/main" id="{F21948F6-9ABC-4F49-918F-FAB483DD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o 与 o…e</a:t>
            </a:r>
          </a:p>
        </p:txBody>
      </p:sp>
      <p:sp>
        <p:nvSpPr>
          <p:cNvPr id="2" name="text-40">
            <a:extLst xmlns:a="http://schemas.openxmlformats.org/drawingml/2006/main">
              <a:ext uri="{FF2B5EF4-FFF2-40B4-BE49-F238E27FC236}">
                <a16:creationId xmlns:a16="http://schemas.microsoft.com/office/drawing/2014/main" id="{9A25C0C6-B376-4E0B-91B2-8E85A128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08</a:t>
            </a:r>
          </a:p>
        </p:txBody>
      </p:sp>
      <p:sp>
        <p:nvSpPr>
          <p:cNvPr id="3" name="text-41">
            <a:extLst xmlns:a="http://schemas.openxmlformats.org/drawingml/2006/main">
              <a:ext uri="{FF2B5EF4-FFF2-40B4-BE49-F238E27FC236}">
                <a16:creationId xmlns:a16="http://schemas.microsoft.com/office/drawing/2014/main" id="{0E785746-18D0-4AF5-9568-FAC17FFE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not      note</a:t>
            </a:r>
          </a:p>
        </p:txBody>
      </p:sp>
      <p:sp>
        <p:nvSpPr>
          <p:cNvPr id="4" name="text-42">
            <a:extLst xmlns:a="http://schemas.openxmlformats.org/drawingml/2006/main">
              <a:ext uri="{FF2B5EF4-FFF2-40B4-BE49-F238E27FC236}">
                <a16:creationId xmlns:a16="http://schemas.microsoft.com/office/drawing/2014/main" id="{260E3A18-71DF-4FD3-A9CE-B694875D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not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/nɒt/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
IPS：[not]。</a:t>
            </a:r>
          </a:p>
        </p:txBody>
      </p:sp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FA9A9940-CB67-4A9D-AAD7-ECE0CB7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note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/nəʊt/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
IPS：[nōte]。</a:t>
            </a:r>
          </a:p>
        </p:txBody>
      </p:sp>
      <p:sp>
        <p:nvSpPr>
          <p:cNvPr id="6" name="text-44">
            <a:extLst xmlns:a="http://schemas.openxmlformats.org/drawingml/2006/main">
              <a:ext uri="{FF2B5EF4-FFF2-40B4-BE49-F238E27FC236}">
                <a16:creationId xmlns:a16="http://schemas.microsoft.com/office/drawing/2014/main" id="{6EE99165-04F7-4B46-8889-ECF7D65E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同样比较：hop 与 hope。</a:t>
            </a:r>
          </a:p>
        </p:txBody>
      </p:sp>
    </p:spTree>
    <p:extLst>
      <p:ext uri="{BB962C8B-B14F-4D97-AF65-F5344CB8AC3E}">
        <p14:creationId xmlns:p14="http://schemas.microsoft.com/office/powerpoint/2010/main" val="1485994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5">
            <a:extLst xmlns:a="http://schemas.openxmlformats.org/drawingml/2006/main">
              <a:ext uri="{FF2B5EF4-FFF2-40B4-BE49-F238E27FC236}">
                <a16:creationId xmlns:a16="http://schemas.microsoft.com/office/drawing/2014/main" id="{FABCEC5B-AD88-41EC-9A40-F5F16BD1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开音：字母名提供线索</a:t>
            </a:r>
          </a:p>
        </p:txBody>
      </p:sp>
      <p:sp>
        <p:nvSpPr>
          <p:cNvPr id="2" name="text-46">
            <a:extLst xmlns:a="http://schemas.openxmlformats.org/drawingml/2006/main">
              <a:ext uri="{FF2B5EF4-FFF2-40B4-BE49-F238E27FC236}">
                <a16:creationId xmlns:a16="http://schemas.microsoft.com/office/drawing/2014/main" id="{EEE1FD75-4CDD-43DD-844E-9BF26A10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09</a:t>
            </a:r>
          </a:p>
        </p:txBody>
      </p:sp>
      <p:sp>
        <p:nvSpPr>
          <p:cNvPr id="3" name="text-47">
            <a:extLst xmlns:a="http://schemas.openxmlformats.org/drawingml/2006/main">
              <a:ext uri="{FF2B5EF4-FFF2-40B4-BE49-F238E27FC236}">
                <a16:creationId xmlns:a16="http://schemas.microsoft.com/office/drawing/2014/main" id="{55A90154-21EF-4FF7-9A4F-0BFB87EA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667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me      go</a:t>
            </a:r>
          </a:p>
        </p:txBody>
      </p:sp>
      <p:sp>
        <p:nvSpPr>
          <p:cNvPr id="4" name="text-48">
            <a:extLst xmlns:a="http://schemas.openxmlformats.org/drawingml/2006/main">
              <a:ext uri="{FF2B5EF4-FFF2-40B4-BE49-F238E27FC236}">
                <a16:creationId xmlns:a16="http://schemas.microsoft.com/office/drawing/2014/main" id="{AEA412B8-723D-4A9D-8081-70889033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me 中 e：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/iː/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，IPS：[mē]。</a:t>
            </a:r>
          </a:p>
        </p:txBody>
      </p:sp>
      <p:sp>
        <p:nvSpPr>
          <p:cNvPr id="5" name="text-49">
            <a:extLst xmlns:a="http://schemas.openxmlformats.org/drawingml/2006/main">
              <a:ext uri="{FF2B5EF4-FFF2-40B4-BE49-F238E27FC236}">
                <a16:creationId xmlns:a16="http://schemas.microsoft.com/office/drawing/2014/main" id="{798FDBED-8C9A-4FFC-B52D-FD57998D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go 中 o：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/əʊ/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，IPS：[gō]。</a:t>
            </a:r>
          </a:p>
        </p:txBody>
      </p:sp>
      <p:sp>
        <p:nvSpPr>
          <p:cNvPr id="6" name="text-50">
            <a:extLst xmlns:a="http://schemas.openxmlformats.org/drawingml/2006/main">
              <a:ext uri="{FF2B5EF4-FFF2-40B4-BE49-F238E27FC236}">
                <a16:creationId xmlns:a16="http://schemas.microsoft.com/office/drawing/2014/main" id="{3957656B-71EA-4EE2-991E-9F63E192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单词以元音字母结尾时，
有时可看到这类模式。</a:t>
            </a:r>
          </a:p>
        </p:txBody>
      </p:sp>
    </p:spTree>
    <p:extLst>
      <p:ext uri="{BB962C8B-B14F-4D97-AF65-F5344CB8AC3E}">
        <p14:creationId xmlns:p14="http://schemas.microsoft.com/office/powerpoint/2010/main" val="14249247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1">
            <a:extLst xmlns:a="http://schemas.openxmlformats.org/drawingml/2006/main">
              <a:ext uri="{FF2B5EF4-FFF2-40B4-BE49-F238E27FC236}">
                <a16:creationId xmlns:a16="http://schemas.microsoft.com/office/drawing/2014/main" id="{06611E99-6E45-484B-ADE7-A83BEA8B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u 的两种常见读法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F1F034C1-EAF5-4318-AB67-5203C4B8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10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DA0EE25B-E63F-45FD-B0AB-ACD51F7F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use      blue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5B89EDF7-1B6F-43B7-9913-9D3ABD80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use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/juːs/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：名词“用途”。
开头包含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/j/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text-55">
            <a:extLst xmlns:a="http://schemas.openxmlformats.org/drawingml/2006/main">
              <a:ext uri="{FF2B5EF4-FFF2-40B4-BE49-F238E27FC236}">
                <a16:creationId xmlns:a16="http://schemas.microsoft.com/office/drawing/2014/main" id="{73176601-E478-4636-9983-930B7869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blue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/bluː/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：蓝色。
这里读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/uː/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D69B6556-DF6E-432C-AD5C-BB0C9777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IPS 原文均以 ū 提示长读。
具体是否有 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/j/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 仍要听词典。</a:t>
            </a:r>
          </a:p>
        </p:txBody>
      </p:sp>
    </p:spTree>
    <p:extLst>
      <p:ext uri="{BB962C8B-B14F-4D97-AF65-F5344CB8AC3E}">
        <p14:creationId xmlns:p14="http://schemas.microsoft.com/office/powerpoint/2010/main" val="3373632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57">
            <a:extLst xmlns:a="http://schemas.openxmlformats.org/drawingml/2006/main">
              <a:ext uri="{FF2B5EF4-FFF2-40B4-BE49-F238E27FC236}">
                <a16:creationId xmlns:a16="http://schemas.microsoft.com/office/drawing/2014/main" id="{DA583DC7-B81E-49C8-926C-4E64C15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配对练习：加 e 后怎样读？</a:t>
            </a:r>
          </a:p>
        </p:txBody>
      </p:sp>
      <p:sp>
        <p:nvSpPr>
          <p:cNvPr id="2" name="text-58">
            <a:extLst xmlns:a="http://schemas.openxmlformats.org/drawingml/2006/main">
              <a:ext uri="{FF2B5EF4-FFF2-40B4-BE49-F238E27FC236}">
                <a16:creationId xmlns:a16="http://schemas.microsoft.com/office/drawing/2014/main" id="{9F1FE987-19E1-40D4-899B-02942714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11</a:t>
            </a:r>
          </a:p>
        </p:txBody>
      </p:sp>
      <p:sp>
        <p:nvSpPr>
          <p:cNvPr id="3" name="text-59">
            <a:extLst xmlns:a="http://schemas.openxmlformats.org/drawingml/2006/main">
              <a:ext uri="{FF2B5EF4-FFF2-40B4-BE49-F238E27FC236}">
                <a16:creationId xmlns:a16="http://schemas.microsoft.com/office/drawing/2014/main" id="{C88AE7AB-BB85-413D-AF87-763E46D0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cap   kit   not   hop</a:t>
            </a:r>
          </a:p>
        </p:txBody>
      </p:sp>
      <p:sp>
        <p:nvSpPr>
          <p:cNvPr id="4" name="text-60">
            <a:extLst xmlns:a="http://schemas.openxmlformats.org/drawingml/2006/main">
              <a:ext uri="{FF2B5EF4-FFF2-40B4-BE49-F238E27FC236}">
                <a16:creationId xmlns:a16="http://schemas.microsoft.com/office/drawing/2014/main" id="{CCDD4B1A-9285-44DD-9408-77953A0D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61">
            <a:extLst xmlns:a="http://schemas.openxmlformats.org/drawingml/2006/main">
              <a:ext uri="{FF2B5EF4-FFF2-40B4-BE49-F238E27FC236}">
                <a16:creationId xmlns:a16="http://schemas.microsoft.com/office/drawing/2014/main" id="{24B17C3A-3B40-4A02-A68E-1C1C1BBA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432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分别找出 cape、kite、note、hope 的伙伴。</a:t>
            </a:r>
          </a:p>
        </p:txBody>
      </p:sp>
      <p:sp>
        <p:nvSpPr>
          <p:cNvPr id="6" name="text-62">
            <a:extLst xmlns:a="http://schemas.openxmlformats.org/drawingml/2006/main">
              <a:ext uri="{FF2B5EF4-FFF2-40B4-BE49-F238E27FC236}">
                <a16:creationId xmlns:a16="http://schemas.microsoft.com/office/drawing/2014/main" id="{71345CB8-3760-45AF-8784-9D4C372B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63">
            <a:extLst xmlns:a="http://schemas.openxmlformats.org/drawingml/2006/main">
              <a:ext uri="{FF2B5EF4-FFF2-40B4-BE49-F238E27FC236}">
                <a16:creationId xmlns:a16="http://schemas.microsoft.com/office/drawing/2014/main" id="{289CB728-3B5F-4DB9-BE10-001FEA37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338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读出每一组词。</a:t>
            </a:r>
          </a:p>
        </p:txBody>
      </p:sp>
      <p:sp>
        <p:nvSpPr>
          <p:cNvPr id="8" name="text-64">
            <a:extLst xmlns:a="http://schemas.openxmlformats.org/drawingml/2006/main">
              <a:ext uri="{FF2B5EF4-FFF2-40B4-BE49-F238E27FC236}">
                <a16:creationId xmlns:a16="http://schemas.microsoft.com/office/drawing/2014/main" id="{77EDC8E3-BC30-4A05-8D9D-41A4E7CA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text-65">
            <a:extLst xmlns:a="http://schemas.openxmlformats.org/drawingml/2006/main">
              <a:ext uri="{FF2B5EF4-FFF2-40B4-BE49-F238E27FC236}">
                <a16:creationId xmlns:a16="http://schemas.microsoft.com/office/drawing/2014/main" id="{F13245CE-3677-44D1-AB62-8BC1CDCF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244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指出新词中哪个字母不单独发音。</a:t>
            </a:r>
          </a:p>
        </p:txBody>
      </p:sp>
    </p:spTree>
    <p:extLst>
      <p:ext uri="{BB962C8B-B14F-4D97-AF65-F5344CB8AC3E}">
        <p14:creationId xmlns:p14="http://schemas.microsoft.com/office/powerpoint/2010/main" val="1839732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66">
            <a:extLst xmlns:a="http://schemas.openxmlformats.org/drawingml/2006/main">
              <a:ext uri="{FF2B5EF4-FFF2-40B4-BE49-F238E27FC236}">
                <a16:creationId xmlns:a16="http://schemas.microsoft.com/office/drawing/2014/main" id="{DD01EE19-134C-4208-AD47-DE5B96E7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配对练习答案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9E3FBFC4-3433-4BB7-A90C-7DEAA0A1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12</a:t>
            </a:r>
          </a:p>
        </p:txBody>
      </p:sp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1CCEB1AE-93E6-4785-A58D-51EA4E0B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cap / cape</a:t>
            </a:r>
          </a:p>
        </p:txBody>
      </p:sp>
      <p:sp>
        <p:nvSpPr>
          <p:cNvPr id="4" name="text-69">
            <a:extLst xmlns:a="http://schemas.openxmlformats.org/drawingml/2006/main">
              <a:ext uri="{FF2B5EF4-FFF2-40B4-BE49-F238E27FC236}">
                <a16:creationId xmlns:a16="http://schemas.microsoft.com/office/drawing/2014/main" id="{227355AA-3536-4123-B738-3AB06C4C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70">
            <a:extLst xmlns:a="http://schemas.openxmlformats.org/drawingml/2006/main">
              <a:ext uri="{FF2B5EF4-FFF2-40B4-BE49-F238E27FC236}">
                <a16:creationId xmlns:a16="http://schemas.microsoft.com/office/drawing/2014/main" id="{E3860966-90E1-4B68-A6F5-77B2AFA3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432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cap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/kæp/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；cape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/keɪp/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text-71">
            <a:extLst xmlns:a="http://schemas.openxmlformats.org/drawingml/2006/main">
              <a:ext uri="{FF2B5EF4-FFF2-40B4-BE49-F238E27FC236}">
                <a16:creationId xmlns:a16="http://schemas.microsoft.com/office/drawing/2014/main" id="{8AE5B69A-1AF7-48CC-B868-2DCA9757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72">
            <a:extLst xmlns:a="http://schemas.openxmlformats.org/drawingml/2006/main">
              <a:ext uri="{FF2B5EF4-FFF2-40B4-BE49-F238E27FC236}">
                <a16:creationId xmlns:a16="http://schemas.microsoft.com/office/drawing/2014/main" id="{F83A1A2E-F72C-4FFE-A1D6-E17B2257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338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kit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/kɪt/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；kite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/kaɪt/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-73">
            <a:extLst xmlns:a="http://schemas.openxmlformats.org/drawingml/2006/main">
              <a:ext uri="{FF2B5EF4-FFF2-40B4-BE49-F238E27FC236}">
                <a16:creationId xmlns:a16="http://schemas.microsoft.com/office/drawing/2014/main" id="{9B0917CC-E93E-4AAC-A222-55803C03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text-74">
            <a:extLst xmlns:a="http://schemas.openxmlformats.org/drawingml/2006/main">
              <a:ext uri="{FF2B5EF4-FFF2-40B4-BE49-F238E27FC236}">
                <a16:creationId xmlns:a16="http://schemas.microsoft.com/office/drawing/2014/main" id="{ED205234-CFC6-42C2-AB86-217FCEF8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244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not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/nɒt/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；note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/nəʊt/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
hop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/hɒp/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；hope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/həʊp/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219692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5">
            <a:extLst xmlns:a="http://schemas.openxmlformats.org/drawingml/2006/main">
              <a:ext uri="{FF2B5EF4-FFF2-40B4-BE49-F238E27FC236}">
                <a16:creationId xmlns:a16="http://schemas.microsoft.com/office/drawing/2014/main" id="{0C6C0BB0-39A8-4A5B-8FA2-890DB279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轻音提示：元音上方的点</a:t>
            </a:r>
          </a:p>
        </p:txBody>
      </p:sp>
      <p:sp>
        <p:nvSpPr>
          <p:cNvPr id="2" name="text-76">
            <a:extLst xmlns:a="http://schemas.openxmlformats.org/drawingml/2006/main">
              <a:ext uri="{FF2B5EF4-FFF2-40B4-BE49-F238E27FC236}">
                <a16:creationId xmlns:a16="http://schemas.microsoft.com/office/drawing/2014/main" id="{00550D32-6CED-413B-B253-35515BFD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13</a:t>
            </a:r>
          </a:p>
        </p:txBody>
      </p:sp>
      <p:sp>
        <p:nvSpPr>
          <p:cNvPr id="3" name="text-77">
            <a:extLst xmlns:a="http://schemas.openxmlformats.org/drawingml/2006/main">
              <a:ext uri="{FF2B5EF4-FFF2-40B4-BE49-F238E27FC236}">
                <a16:creationId xmlns:a16="http://schemas.microsoft.com/office/drawing/2014/main" id="{6EB9385F-F86D-44E1-94B5-96D84DCE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667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[bėgin]</a:t>
            </a:r>
          </a:p>
        </p:txBody>
      </p:sp>
      <p:sp>
        <p:nvSpPr>
          <p:cNvPr id="4" name="text-78">
            <a:extLst xmlns:a="http://schemas.openxmlformats.org/drawingml/2006/main">
              <a:ext uri="{FF2B5EF4-FFF2-40B4-BE49-F238E27FC236}">
                <a16:creationId xmlns:a16="http://schemas.microsoft.com/office/drawing/2014/main" id="{AD581363-B8C9-4BF2-A04A-23096AEE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begin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/bɪˈɡɪn/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 的第一个 e 读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/ɪ/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text-79">
            <a:extLst xmlns:a="http://schemas.openxmlformats.org/drawingml/2006/main">
              <a:ext uri="{FF2B5EF4-FFF2-40B4-BE49-F238E27FC236}">
                <a16:creationId xmlns:a16="http://schemas.microsoft.com/office/drawing/2014/main" id="{D7269EBA-4620-46B2-B8D3-B88290B8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圆点提醒：这个 e 不读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/e/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text-80">
            <a:extLst xmlns:a="http://schemas.openxmlformats.org/drawingml/2006/main">
              <a:ext uri="{FF2B5EF4-FFF2-40B4-BE49-F238E27FC236}">
                <a16:creationId xmlns:a16="http://schemas.microsoft.com/office/drawing/2014/main" id="{2AD0B4CB-3312-4285-9052-E8F5F859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重音在后一个音节。</a:t>
            </a:r>
          </a:p>
        </p:txBody>
      </p:sp>
    </p:spTree>
    <p:extLst>
      <p:ext uri="{BB962C8B-B14F-4D97-AF65-F5344CB8AC3E}">
        <p14:creationId xmlns:p14="http://schemas.microsoft.com/office/powerpoint/2010/main" val="19852750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81">
            <a:extLst xmlns:a="http://schemas.openxmlformats.org/drawingml/2006/main">
              <a:ext uri="{FF2B5EF4-FFF2-40B4-BE49-F238E27FC236}">
                <a16:creationId xmlns:a16="http://schemas.microsoft.com/office/drawing/2014/main" id="{C08381D1-003A-429F-BA59-A2548DAF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弱音提示：元音上方的圈</a:t>
            </a:r>
          </a:p>
        </p:txBody>
      </p:sp>
      <p:sp>
        <p:nvSpPr>
          <p:cNvPr id="2" name="text-82">
            <a:extLst xmlns:a="http://schemas.openxmlformats.org/drawingml/2006/main">
              <a:ext uri="{FF2B5EF4-FFF2-40B4-BE49-F238E27FC236}">
                <a16:creationId xmlns:a16="http://schemas.microsoft.com/office/drawing/2014/main" id="{F4D14A8C-F896-48D5-AF9B-AFA43494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14</a:t>
            </a:r>
          </a:p>
        </p:txBody>
      </p:sp>
      <p:sp>
        <p:nvSpPr>
          <p:cNvPr id="3" name="text-83">
            <a:extLst xmlns:a="http://schemas.openxmlformats.org/drawingml/2006/main">
              <a:ext uri="{FF2B5EF4-FFF2-40B4-BE49-F238E27FC236}">
                <a16:creationId xmlns:a16="http://schemas.microsoft.com/office/drawing/2014/main" id="{B4A30084-9A67-4A7E-8B5D-55DA7859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667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[åbout]</a:t>
            </a:r>
          </a:p>
        </p:txBody>
      </p:sp>
      <p:sp>
        <p:nvSpPr>
          <p:cNvPr id="4" name="text-84">
            <a:extLst xmlns:a="http://schemas.openxmlformats.org/drawingml/2006/main">
              <a:ext uri="{FF2B5EF4-FFF2-40B4-BE49-F238E27FC236}">
                <a16:creationId xmlns:a16="http://schemas.microsoft.com/office/drawing/2014/main" id="{EA8F0353-A97A-4AF5-B317-BB94EAA2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about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/əˈbaʊt/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 的第一个 a 读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/ə/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text-85">
            <a:extLst xmlns:a="http://schemas.openxmlformats.org/drawingml/2006/main">
              <a:ext uri="{FF2B5EF4-FFF2-40B4-BE49-F238E27FC236}">
                <a16:creationId xmlns:a16="http://schemas.microsoft.com/office/drawing/2014/main" id="{58D36BB7-0E4D-48B6-8626-2F9ECA75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/ə/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 短而放松，不读成 a 的字母音。</a:t>
            </a:r>
          </a:p>
        </p:txBody>
      </p:sp>
      <p:sp>
        <p:nvSpPr>
          <p:cNvPr id="6" name="text-86">
            <a:extLst xmlns:a="http://schemas.openxmlformats.org/drawingml/2006/main">
              <a:ext uri="{FF2B5EF4-FFF2-40B4-BE49-F238E27FC236}">
                <a16:creationId xmlns:a16="http://schemas.microsoft.com/office/drawing/2014/main" id="{71042A79-085C-4275-9A3F-FE88F146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先轻后重：a-BOUT。</a:t>
            </a:r>
          </a:p>
        </p:txBody>
      </p:sp>
    </p:spTree>
    <p:extLst>
      <p:ext uri="{BB962C8B-B14F-4D97-AF65-F5344CB8AC3E}">
        <p14:creationId xmlns:p14="http://schemas.microsoft.com/office/powerpoint/2010/main" val="12219067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87">
            <a:extLst xmlns:a="http://schemas.openxmlformats.org/drawingml/2006/main">
              <a:ext uri="{FF2B5EF4-FFF2-40B4-BE49-F238E27FC236}">
                <a16:creationId xmlns:a16="http://schemas.microsoft.com/office/drawing/2014/main" id="{63E36B67-B395-4381-8562-3409409D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轻音与弱音的对照</a:t>
            </a:r>
          </a:p>
        </p:txBody>
      </p:sp>
      <p:sp>
        <p:nvSpPr>
          <p:cNvPr id="2" name="text-88">
            <a:extLst xmlns:a="http://schemas.openxmlformats.org/drawingml/2006/main">
              <a:ext uri="{FF2B5EF4-FFF2-40B4-BE49-F238E27FC236}">
                <a16:creationId xmlns:a16="http://schemas.microsoft.com/office/drawing/2014/main" id="{C16F7FE6-FC62-4F38-BA71-2094D975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15</a:t>
            </a:r>
          </a:p>
        </p:txBody>
      </p:sp>
      <p:sp>
        <p:nvSpPr>
          <p:cNvPr id="3" name="text-89">
            <a:extLst xmlns:a="http://schemas.openxmlformats.org/drawingml/2006/main">
              <a:ext uri="{FF2B5EF4-FFF2-40B4-BE49-F238E27FC236}">
                <a16:creationId xmlns:a16="http://schemas.microsoft.com/office/drawing/2014/main" id="{B58237FB-D9C8-41FD-A259-5CE4644E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/ɪ/</a:t>
            </a:r>
            <a:r>
              <a: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48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/ə/</a:t>
            </a:r>
          </a:p>
        </p:txBody>
      </p:sp>
      <p:sp>
        <p:nvSpPr>
          <p:cNvPr id="4" name="text-90">
            <a:extLst xmlns:a="http://schemas.openxmlformats.org/drawingml/2006/main">
              <a:ext uri="{FF2B5EF4-FFF2-40B4-BE49-F238E27FC236}">
                <a16:creationId xmlns:a16="http://schemas.microsoft.com/office/drawing/2014/main" id="{60BFDE46-72FC-4D50-A1BF-BC03E548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begin 的第一个元音：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/ɪ/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
IPS 用 e 上加点提示。</a:t>
            </a:r>
          </a:p>
        </p:txBody>
      </p:sp>
      <p:sp>
        <p:nvSpPr>
          <p:cNvPr id="5" name="text-91">
            <a:extLst xmlns:a="http://schemas.openxmlformats.org/drawingml/2006/main">
              <a:ext uri="{FF2B5EF4-FFF2-40B4-BE49-F238E27FC236}">
                <a16:creationId xmlns:a16="http://schemas.microsoft.com/office/drawing/2014/main" id="{34FECADE-C650-45B6-8E12-09B0A532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about 的第一个元音：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/ə/</a:t>
            </a: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
IPS 用 a 上加圈提示。</a:t>
            </a:r>
          </a:p>
        </p:txBody>
      </p:sp>
      <p:sp>
        <p:nvSpPr>
          <p:cNvPr id="6" name="text-92">
            <a:extLst xmlns:a="http://schemas.openxmlformats.org/drawingml/2006/main">
              <a:ext uri="{FF2B5EF4-FFF2-40B4-BE49-F238E27FC236}">
                <a16:creationId xmlns:a16="http://schemas.microsoft.com/office/drawing/2014/main" id="{2B4F5DF1-263B-488F-AFAB-2B906FB6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2670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记号帮助回忆，读音来自示范和词典。</a:t>
            </a:r>
          </a:p>
        </p:txBody>
      </p:sp>
    </p:spTree>
    <p:extLst>
      <p:ext uri="{BB962C8B-B14F-4D97-AF65-F5344CB8AC3E}">
        <p14:creationId xmlns:p14="http://schemas.microsoft.com/office/powerpoint/2010/main" val="19989707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93">
            <a:extLst xmlns:a="http://schemas.openxmlformats.org/drawingml/2006/main">
              <a:ext uri="{FF2B5EF4-FFF2-40B4-BE49-F238E27FC236}">
                <a16:creationId xmlns:a16="http://schemas.microsoft.com/office/drawing/2014/main" id="{4E0E5ED8-DFF2-4C13-9780-756B15A6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辅音组合先整体识别</a:t>
            </a:r>
          </a:p>
        </p:txBody>
      </p:sp>
      <p:sp>
        <p:nvSpPr>
          <p:cNvPr id="2" name="text-94">
            <a:extLst xmlns:a="http://schemas.openxmlformats.org/drawingml/2006/main">
              <a:ext uri="{FF2B5EF4-FFF2-40B4-BE49-F238E27FC236}">
                <a16:creationId xmlns:a16="http://schemas.microsoft.com/office/drawing/2014/main" id="{766ACE89-2F72-42C3-B2AB-0783EB18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16</a:t>
            </a:r>
          </a:p>
        </p:txBody>
      </p:sp>
      <p:sp>
        <p:nvSpPr>
          <p:cNvPr id="3" name="text-95">
            <a:extLst xmlns:a="http://schemas.openxmlformats.org/drawingml/2006/main">
              <a:ext uri="{FF2B5EF4-FFF2-40B4-BE49-F238E27FC236}">
                <a16:creationId xmlns:a16="http://schemas.microsoft.com/office/drawing/2014/main" id="{8D74A757-3456-404B-8B6C-37FC8C5D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667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ship    fish</a:t>
            </a:r>
          </a:p>
        </p:txBody>
      </p:sp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B4F09C52-C33A-478F-B4B2-C92D73B9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sh 在两词中都是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/ʃ/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text-97">
            <a:extLst xmlns:a="http://schemas.openxmlformats.org/drawingml/2006/main">
              <a:ext uri="{FF2B5EF4-FFF2-40B4-BE49-F238E27FC236}">
                <a16:creationId xmlns:a16="http://schemas.microsoft.com/office/drawing/2014/main" id="{C78966C3-2AC5-4EB1-BE5B-0F298F1D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拼 ship：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/ʃ/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/ɪ/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/p/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text-98">
            <a:extLst xmlns:a="http://schemas.openxmlformats.org/drawingml/2006/main">
              <a:ext uri="{FF2B5EF4-FFF2-40B4-BE49-F238E27FC236}">
                <a16:creationId xmlns:a16="http://schemas.microsoft.com/office/drawing/2014/main" id="{2F731459-A4D5-45CD-BACD-676A661E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不要在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/ʃ/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 后面添加多余元音。</a:t>
            </a:r>
          </a:p>
        </p:txBody>
      </p:sp>
    </p:spTree>
    <p:extLst>
      <p:ext uri="{BB962C8B-B14F-4D97-AF65-F5344CB8AC3E}">
        <p14:creationId xmlns:p14="http://schemas.microsoft.com/office/powerpoint/2010/main" val="16461384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99">
            <a:extLst xmlns:a="http://schemas.openxmlformats.org/drawingml/2006/main">
              <a:ext uri="{FF2B5EF4-FFF2-40B4-BE49-F238E27FC236}">
                <a16:creationId xmlns:a16="http://schemas.microsoft.com/office/drawing/2014/main" id="{C7C146C7-4910-4D7C-AE5C-3F770B2E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规则旁边要留出例外的位置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E394BC82-66B9-4EB0-98CA-E28D58ED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17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9400FCA1-A184-467A-8DDD-BF199DC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667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have   </a:t>
            </a:r>
            <a:r>
              <a:rPr sz="525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/hæv/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AFD19CF8-6F74-4F39-A8AF-74060182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have 以 e 结尾，a 仍读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/æ/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D0B95F24-30E2-475C-866D-BF590364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看到生词，可以先提出读音猜测。</a:t>
            </a:r>
          </a:p>
        </p:txBody>
      </p:sp>
      <p:sp>
        <p:nvSpPr>
          <p:cNvPr id="6" name="text-104">
            <a:extLst xmlns:a="http://schemas.openxmlformats.org/drawingml/2006/main">
              <a:ext uri="{FF2B5EF4-FFF2-40B4-BE49-F238E27FC236}">
                <a16:creationId xmlns:a16="http://schemas.microsoft.com/office/drawing/2014/main" id="{30FD26C6-5F91-4EF1-AED8-4E95923A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619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再通过词典和录音确认。</a:t>
            </a:r>
          </a:p>
        </p:txBody>
      </p:sp>
    </p:spTree>
    <p:extLst>
      <p:ext uri="{BB962C8B-B14F-4D97-AF65-F5344CB8AC3E}">
        <p14:creationId xmlns:p14="http://schemas.microsoft.com/office/powerpoint/2010/main" val="11627581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05">
            <a:extLst xmlns:a="http://schemas.openxmlformats.org/drawingml/2006/main">
              <a:ext uri="{FF2B5EF4-FFF2-40B4-BE49-F238E27FC236}">
                <a16:creationId xmlns:a16="http://schemas.microsoft.com/office/drawing/2014/main" id="{B4391BCA-FC1C-41EC-B856-0510385F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课堂检查：读音与标注</a:t>
            </a:r>
          </a:p>
        </p:txBody>
      </p:sp>
      <p:sp>
        <p:nvSpPr>
          <p:cNvPr id="2" name="text-106">
            <a:extLst xmlns:a="http://schemas.openxmlformats.org/drawingml/2006/main">
              <a:ext uri="{FF2B5EF4-FFF2-40B4-BE49-F238E27FC236}">
                <a16:creationId xmlns:a16="http://schemas.microsoft.com/office/drawing/2014/main" id="{3229EB62-47A9-4DF6-A5A2-59B91FFA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18</a:t>
            </a:r>
          </a:p>
        </p:txBody>
      </p:sp>
      <p:sp>
        <p:nvSpPr>
          <p:cNvPr id="3" name="text-107">
            <a:extLst xmlns:a="http://schemas.openxmlformats.org/drawingml/2006/main">
              <a:ext uri="{FF2B5EF4-FFF2-40B4-BE49-F238E27FC236}">
                <a16:creationId xmlns:a16="http://schemas.microsoft.com/office/drawing/2014/main" id="{3B63CCAC-7FA0-4704-84BC-0C3F5450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name   sit   begin   about</a:t>
            </a:r>
          </a:p>
        </p:txBody>
      </p:sp>
      <p:sp>
        <p:nvSpPr>
          <p:cNvPr id="4" name="text-108">
            <a:extLst xmlns:a="http://schemas.openxmlformats.org/drawingml/2006/main">
              <a:ext uri="{FF2B5EF4-FFF2-40B4-BE49-F238E27FC236}">
                <a16:creationId xmlns:a16="http://schemas.microsoft.com/office/drawing/2014/main" id="{D3878FCF-27FA-4FF2-ABA6-A56280B6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109">
            <a:extLst xmlns:a="http://schemas.openxmlformats.org/drawingml/2006/main">
              <a:ext uri="{FF2B5EF4-FFF2-40B4-BE49-F238E27FC236}">
                <a16:creationId xmlns:a16="http://schemas.microsoft.com/office/drawing/2014/main" id="{C0F865C7-6EE9-4737-AFF4-14F5F095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432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为 name 的 a 选择：横线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 点 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 圈。</a:t>
            </a:r>
          </a:p>
        </p:txBody>
      </p:sp>
      <p:sp>
        <p:nvSpPr>
          <p:cNvPr id="6" name="text-110">
            <a:extLst xmlns:a="http://schemas.openxmlformats.org/drawingml/2006/main">
              <a:ext uri="{FF2B5EF4-FFF2-40B4-BE49-F238E27FC236}">
                <a16:creationId xmlns:a16="http://schemas.microsoft.com/office/drawing/2014/main" id="{78F892F9-CA95-496B-844D-76619E69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111">
            <a:extLst xmlns:a="http://schemas.openxmlformats.org/drawingml/2006/main">
              <a:ext uri="{FF2B5EF4-FFF2-40B4-BE49-F238E27FC236}">
                <a16:creationId xmlns:a16="http://schemas.microsoft.com/office/drawing/2014/main" id="{79F05895-233D-4B5B-8FEB-10DA018C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338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sit 的 i 在本词中读什么音？</a:t>
            </a:r>
          </a:p>
        </p:txBody>
      </p:sp>
      <p:sp>
        <p:nvSpPr>
          <p:cNvPr id="8" name="text-112">
            <a:extLst xmlns:a="http://schemas.openxmlformats.org/drawingml/2006/main">
              <a:ext uri="{FF2B5EF4-FFF2-40B4-BE49-F238E27FC236}">
                <a16:creationId xmlns:a16="http://schemas.microsoft.com/office/drawing/2014/main" id="{16B5604B-AD98-4164-B6DC-2F50DC0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text-113">
            <a:extLst xmlns:a="http://schemas.openxmlformats.org/drawingml/2006/main">
              <a:ext uri="{FF2B5EF4-FFF2-40B4-BE49-F238E27FC236}">
                <a16:creationId xmlns:a16="http://schemas.microsoft.com/office/drawing/2014/main" id="{BE696A69-2111-4225-A3C1-AD051A83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244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begin 的 e 与 about 的 a 应怎样提示？</a:t>
            </a:r>
          </a:p>
        </p:txBody>
      </p:sp>
    </p:spTree>
    <p:extLst>
      <p:ext uri="{BB962C8B-B14F-4D97-AF65-F5344CB8AC3E}">
        <p14:creationId xmlns:p14="http://schemas.microsoft.com/office/powerpoint/2010/main" val="18109108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14">
            <a:extLst xmlns:a="http://schemas.openxmlformats.org/drawingml/2006/main">
              <a:ext uri="{FF2B5EF4-FFF2-40B4-BE49-F238E27FC236}">
                <a16:creationId xmlns:a16="http://schemas.microsoft.com/office/drawing/2014/main" id="{0E26CE53-0377-4089-84F7-68D0017B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课堂检查答案</a:t>
            </a:r>
          </a:p>
        </p:txBody>
      </p:sp>
      <p:sp>
        <p:nvSpPr>
          <p:cNvPr id="2" name="text-115">
            <a:extLst xmlns:a="http://schemas.openxmlformats.org/drawingml/2006/main">
              <a:ext uri="{FF2B5EF4-FFF2-40B4-BE49-F238E27FC236}">
                <a16:creationId xmlns:a16="http://schemas.microsoft.com/office/drawing/2014/main" id="{1E77054A-8747-46E8-B542-3D752953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rPr>
              <a:t>02  /  19</a:t>
            </a:r>
          </a:p>
        </p:txBody>
      </p:sp>
      <p:sp>
        <p:nvSpPr>
          <p:cNvPr id="3" name="text-116">
            <a:extLst xmlns:a="http://schemas.openxmlformats.org/drawingml/2006/main">
              <a:ext uri="{FF2B5EF4-FFF2-40B4-BE49-F238E27FC236}">
                <a16:creationId xmlns:a16="http://schemas.microsoft.com/office/drawing/2014/main" id="{52F15A02-6A8C-4A54-89AE-1A1CADE8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[nāme]    [sit]</a:t>
            </a:r>
          </a:p>
        </p:txBody>
      </p:sp>
      <p:sp>
        <p:nvSpPr>
          <p:cNvPr id="4" name="text-117">
            <a:extLst xmlns:a="http://schemas.openxmlformats.org/drawingml/2006/main">
              <a:ext uri="{FF2B5EF4-FFF2-40B4-BE49-F238E27FC236}">
                <a16:creationId xmlns:a16="http://schemas.microsoft.com/office/drawing/2014/main" id="{80BC9C09-97D7-4E84-AD4B-BB649694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118">
            <a:extLst xmlns:a="http://schemas.openxmlformats.org/drawingml/2006/main">
              <a:ext uri="{FF2B5EF4-FFF2-40B4-BE49-F238E27FC236}">
                <a16:creationId xmlns:a16="http://schemas.microsoft.com/office/drawing/2014/main" id="{2D4974DF-F2EC-4BAB-84D5-DDFC9EBF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432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[nāme]：a 对应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/eɪ/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text-119">
            <a:extLst xmlns:a="http://schemas.openxmlformats.org/drawingml/2006/main">
              <a:ext uri="{FF2B5EF4-FFF2-40B4-BE49-F238E27FC236}">
                <a16:creationId xmlns:a16="http://schemas.microsoft.com/office/drawing/2014/main" id="{E436AD60-B02D-4A9D-8C9F-BB158FF2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120">
            <a:extLst xmlns:a="http://schemas.openxmlformats.org/drawingml/2006/main">
              <a:ext uri="{FF2B5EF4-FFF2-40B4-BE49-F238E27FC236}">
                <a16:creationId xmlns:a16="http://schemas.microsoft.com/office/drawing/2014/main" id="{343CEEEB-ED2A-4407-AA20-564460A7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338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[sit]：i 对应 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/ɪ/</a:t>
            </a: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，本词不加符号。</a:t>
            </a:r>
          </a:p>
        </p:txBody>
      </p:sp>
      <p:sp>
        <p:nvSpPr>
          <p:cNvPr id="8" name="text-121">
            <a:extLst xmlns:a="http://schemas.openxmlformats.org/drawingml/2006/main">
              <a:ext uri="{FF2B5EF4-FFF2-40B4-BE49-F238E27FC236}">
                <a16:creationId xmlns:a16="http://schemas.microsoft.com/office/drawing/2014/main" id="{805E7152-300F-414D-868A-63F1176B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A51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text-122">
            <a:extLst xmlns:a="http://schemas.openxmlformats.org/drawingml/2006/main">
              <a:ext uri="{FF2B5EF4-FFF2-40B4-BE49-F238E27FC236}">
                <a16:creationId xmlns:a16="http://schemas.microsoft.com/office/drawing/2014/main" id="{B298DC41-7F13-4147-8081-FD1214D3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24425"/>
            <a:ext cx="9601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rPr>
              <a:t>[bėgin] 的 e 加点。
[åbout] 的 a 加圈。</a:t>
            </a:r>
          </a:p>
        </p:txBody>
      </p:sp>
    </p:spTree>
    <p:extLst>
      <p:ext uri="{BB962C8B-B14F-4D97-AF65-F5344CB8AC3E}">
        <p14:creationId xmlns:p14="http://schemas.microsoft.com/office/powerpoint/2010/main" val="3929621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315E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23">
            <a:extLst xmlns:a="http://schemas.openxmlformats.org/drawingml/2006/main">
              <a:ext uri="{FF2B5EF4-FFF2-40B4-BE49-F238E27FC236}">
                <a16:creationId xmlns:a16="http://schemas.microsoft.com/office/drawing/2014/main" id="{62C8F297-EB56-4855-AC96-02272C92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课后练习与学习标准</a:t>
            </a:r>
          </a:p>
        </p:txBody>
      </p:sp>
      <p:sp>
        <p:nvSpPr>
          <p:cNvPr id="2" name="text-124">
            <a:extLst xmlns:a="http://schemas.openxmlformats.org/drawingml/2006/main">
              <a:ext uri="{FF2B5EF4-FFF2-40B4-BE49-F238E27FC236}">
                <a16:creationId xmlns:a16="http://schemas.microsoft.com/office/drawing/2014/main" id="{3E4D8346-3AA5-4E70-B962-31C756C4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E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/  20</a:t>
            </a:r>
          </a:p>
        </p:txBody>
      </p:sp>
      <p:sp>
        <p:nvSpPr>
          <p:cNvPr id="3" name="text-125">
            <a:extLst xmlns:a="http://schemas.openxmlformats.org/drawingml/2006/main">
              <a:ext uri="{FF2B5EF4-FFF2-40B4-BE49-F238E27FC236}">
                <a16:creationId xmlns:a16="http://schemas.microsoft.com/office/drawing/2014/main" id="{573EF46F-71D0-40D9-83C7-11406620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5D7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5D7A4"/>
                </a:solidFill>
                <a:latin typeface="Microsoft YaHei"/>
                <a:ea typeface="Microsoft YaHei"/>
                <a:cs typeface="Microsoft YaHei"/>
              </a:rPr>
              <a:t>会读，也能回忆拼写</a:t>
            </a:r>
          </a:p>
        </p:txBody>
      </p:sp>
      <p:sp>
        <p:nvSpPr>
          <p:cNvPr id="4" name="text-126">
            <a:extLst xmlns:a="http://schemas.openxmlformats.org/drawingml/2006/main">
              <a:ext uri="{FF2B5EF4-FFF2-40B4-BE49-F238E27FC236}">
                <a16:creationId xmlns:a16="http://schemas.microsoft.com/office/drawing/2014/main" id="{2FC0E85B-8BF5-492D-9AE6-43767B0F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练读 cap</a:t>
            </a: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/cape、kit/</a:t>
            </a: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kite、not/note。</a:t>
            </a:r>
          </a:p>
        </p:txBody>
      </p:sp>
      <p:sp>
        <p:nvSpPr>
          <p:cNvPr id="5" name="text-127">
            <a:extLst xmlns:a="http://schemas.openxmlformats.org/drawingml/2006/main">
              <a:ext uri="{FF2B5EF4-FFF2-40B4-BE49-F238E27FC236}">
                <a16:creationId xmlns:a16="http://schemas.microsoft.com/office/drawing/2014/main" id="{759F9AEB-800F-4B99-97AE-80BA3928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 name、begin、about 写出本课提示。</a:t>
            </a:r>
          </a:p>
        </p:txBody>
      </p:sp>
      <p:sp>
        <p:nvSpPr>
          <p:cNvPr id="6" name="text-128">
            <a:extLst xmlns:a="http://schemas.openxmlformats.org/drawingml/2006/main">
              <a:ext uri="{FF2B5EF4-FFF2-40B4-BE49-F238E27FC236}">
                <a16:creationId xmlns:a16="http://schemas.microsoft.com/office/drawing/2014/main" id="{66F09ACB-6D82-40F4-A9EA-DFB90D0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下一课：组合元音、重音和常见词尾。</a:t>
            </a:r>
          </a:p>
        </p:txBody>
      </p:sp>
    </p:spTree>
    <p:extLst>
      <p:ext uri="{BB962C8B-B14F-4D97-AF65-F5344CB8AC3E}">
        <p14:creationId xmlns:p14="http://schemas.microsoft.com/office/powerpoint/2010/main" val="1358113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2026-09-19T07:10:39.9840000Z</dcterms:created>
  <dcterms:modified xsi:type="dcterms:W3CDTF">2026-09-19T07:10:39.9840000Z</dcterms:modified>
</coreProperties>
</file>