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建议两课时。前半讲常见拼写变化，后半讲层级构词与长词综合分析。</a:t>
            </a:r>
          </a:p>
          <a:p/>
          <a:p>
            <a:r>
              <a:t>授课提示：先让学生观察或尝试，再讨论本页例词。明确指出读音、拼写与意义的联系。</a:t>
            </a:r>
          </a:p>
          <a:p/>
          <a:p>
            <a:r>
              <a:t>原始资料：</a:t>
            </a:r>
          </a:p>
          <a:p>
            <a:r>
              <a:t>documents_zh/05-ips-approach.md</a:t>
            </a:r>
          </a:p>
          <a:p>
            <a:r>
              <a:t>documents_zh/06-ism-approach.md</a:t>
            </a:r>
          </a:p>
          <a:p/>
          <a:p>
            <a:r>
              <a:t>口音约定：除明确标注外，IPA采用英式词典常见读音。IPS为本项目助记标注。例句及练习为教学改编。</a:t>
            </a:r>
          </a:p>
          <a:p>
            <a:r>
              <a:t>封面背景：OpenAI内置图像生成工具生成的教学插画。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先让学生猜happiness的拼写，保留不同答案，后面用规则和例外验证。</a:t>
            </a:r>
          </a:p>
          <a:p/>
          <a:p>
            <a:r>
              <a:t>授课提示：先让学生观察或尝试，再讨论本页例词。明确指出读音、拼写与意义的联系。</a:t>
            </a:r>
          </a:p>
          <a:p/>
          <a:p>
            <a:r>
              <a:t>原始资料：</a:t>
            </a:r>
          </a:p>
          <a:p>
            <a:r>
              <a:t>documents_zh/05-ips-approach.md</a:t>
            </a:r>
          </a:p>
          <a:p>
            <a:r>
              <a:t>documents_zh/06-ism-approach.md</a:t>
            </a:r>
          </a:p>
          <a:p/>
          <a:p>
            <a:r>
              <a:t>口音约定：除明确标注外，IPA采用英式词典常见读音。IPS为本项目助记标注。例句及练习为教学改编。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原文前缀同化内容。用熟词说明im-常出现在p/m/b前，il-在l前，ir-在r前。不将这些形式出现的所有词都自动判为否定。</a:t>
            </a:r>
          </a:p>
          <a:p>
            <a:r>
              <a:t>教学核对来源：https://dictionary.cambridge.org/grammar/british-grammar/prefixes</a:t>
            </a:r>
          </a:p>
          <a:p/>
          <a:p>
            <a:r>
              <a:t>授课提示：先让学生观察或尝试，再讨论本页例词。明确指出读音、拼写与意义的联系。</a:t>
            </a:r>
          </a:p>
          <a:p/>
          <a:p>
            <a:r>
              <a:t>原始资料：</a:t>
            </a:r>
          </a:p>
          <a:p>
            <a:r>
              <a:t>documents_zh/05-ips-approach.md</a:t>
            </a:r>
          </a:p>
          <a:p>
            <a:r>
              <a:t>documents_zh/06-ism-approach.md</a:t>
            </a:r>
          </a:p>
          <a:p/>
          <a:p>
            <a:r>
              <a:t>口音约定：除明确标注外，IPA采用英式词典常见读音。IPS为本项目助记标注。例句及练习为教学改编。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这两种双字母的形成机制不同，不能用同一条重读闭音节规则解释。</a:t>
            </a:r>
          </a:p>
          <a:p>
            <a:r>
              <a:t>教学核对来源：https://dictionary.cambridge.org/grammar/british-grammar/prefixes</a:t>
            </a:r>
          </a:p>
          <a:p/>
          <a:p>
            <a:r>
              <a:t>授课提示：先让学生观察或尝试，再讨论本页例词。明确指出读音、拼写与意义的联系。</a:t>
            </a:r>
          </a:p>
          <a:p/>
          <a:p>
            <a:r>
              <a:t>原始资料：</a:t>
            </a:r>
          </a:p>
          <a:p>
            <a:r>
              <a:t>documents_zh/05-ips-approach.md</a:t>
            </a:r>
          </a:p>
          <a:p>
            <a:r>
              <a:t>documents_zh/06-ism-approach.md</a:t>
            </a:r>
          </a:p>
          <a:p/>
          <a:p>
            <a:r>
              <a:t>口音约定：除明确标注外，IPA采用英式词典常见读音。IPS为本项目助记标注。例句及练习为教学改编。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不要照原文简化为所有y结尾加后缀都改i。该规则有例外，常用词以词典为准。</a:t>
            </a:r>
          </a:p>
          <a:p>
            <a:r>
              <a:t>教学核对来源：https://dictionary.cambridge.org/grammar/british-grammar/plurals</a:t>
            </a:r>
          </a:p>
          <a:p/>
          <a:p>
            <a:r>
              <a:t>授课提示：先让学生观察或尝试，再讨论本页例词。明确指出读音、拼写与意义的联系。</a:t>
            </a:r>
          </a:p>
          <a:p/>
          <a:p>
            <a:r>
              <a:t>原始资料：</a:t>
            </a:r>
          </a:p>
          <a:p>
            <a:r>
              <a:t>documents_zh/05-ips-approach.md</a:t>
            </a:r>
          </a:p>
          <a:p>
            <a:r>
              <a:t>documents_zh/06-ism-approach.md</a:t>
            </a:r>
          </a:p>
          <a:p/>
          <a:p>
            <a:r>
              <a:t>口音约定：除明确标注外，IPA采用英式词典常见读音。IPS为本项目助记标注。例句及练习为教学改编。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可补充study + -ed = studied作同词对照。不要把studying误写为studiing。</a:t>
            </a:r>
          </a:p>
          <a:p>
            <a:r>
              <a:t>教学核对来源：https://dictionary.cambridge.org/grammar/british-grammar/plurals</a:t>
            </a:r>
          </a:p>
          <a:p/>
          <a:p>
            <a:r>
              <a:t>授课提示：先让学生观察或尝试，再讨论本页例词。明确指出读音、拼写与意义的联系。</a:t>
            </a:r>
          </a:p>
          <a:p/>
          <a:p>
            <a:r>
              <a:t>原始资料：</a:t>
            </a:r>
          </a:p>
          <a:p>
            <a:r>
              <a:t>documents_zh/05-ips-approach.md</a:t>
            </a:r>
          </a:p>
          <a:p>
            <a:r>
              <a:t>documents_zh/06-ism-approach.md</a:t>
            </a:r>
          </a:p>
          <a:p/>
          <a:p>
            <a:r>
              <a:t>口音约定：除明确标注外，IPA采用英式词典常见读音。IPS为本项目助记标注。例句及练习为教学改编。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与第02课hop/hope联系，后续对照hopping/hoping。不是所有元音前都必须去e，例如seeing。</a:t>
            </a:r>
          </a:p>
          <a:p>
            <a:r>
              <a:t>教学核对来源：https://dictionary.cambridge.org/grammar/british-grammar/plurals</a:t>
            </a:r>
          </a:p>
          <a:p/>
          <a:p>
            <a:r>
              <a:t>授课提示：先让学生观察或尝试，再讨论本页例词。明确指出读音、拼写与意义的联系。</a:t>
            </a:r>
          </a:p>
          <a:p/>
          <a:p>
            <a:r>
              <a:t>原始资料：</a:t>
            </a:r>
          </a:p>
          <a:p>
            <a:r>
              <a:t>documents_zh/05-ips-approach.md</a:t>
            </a:r>
          </a:p>
          <a:p>
            <a:r>
              <a:t>documents_zh/06-ism-approach.md</a:t>
            </a:r>
          </a:p>
          <a:p/>
          <a:p>
            <a:r>
              <a:t>口音约定：除明确标注外，IPA采用英式词典常见读音。IPS为本项目助记标注。例句及练习为教学改编。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用词典确认changeable /ˈtʃeɪn.dʒə.bəl/。避免误解为可任意保留e。</a:t>
            </a:r>
          </a:p>
          <a:p>
            <a:r>
              <a:t>教学核对来源：https://dictionary.cambridge.org/grammar/british-grammar/plurals</a:t>
            </a:r>
          </a:p>
          <a:p/>
          <a:p>
            <a:r>
              <a:t>授课提示：先让学生观察或尝试，再讨论本页例词。明确指出读音、拼写与意义的联系。</a:t>
            </a:r>
          </a:p>
          <a:p/>
          <a:p>
            <a:r>
              <a:t>原始资料：</a:t>
            </a:r>
          </a:p>
          <a:p>
            <a:r>
              <a:t>documents_zh/05-ips-approach.md</a:t>
            </a:r>
          </a:p>
          <a:p>
            <a:r>
              <a:t>documents_zh/06-ism-approach.md</a:t>
            </a:r>
          </a:p>
          <a:p/>
          <a:p>
            <a:r>
              <a:t>口音约定：除明确标注外，IPA采用英式词典常见读音。IPS为本项目助记标注。例句及练习为教学改编。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以stop、sit、run示范。补充w/x/y通常不按此双写；结尾有两个辅音如help也不双写。</a:t>
            </a:r>
          </a:p>
          <a:p>
            <a:r>
              <a:t>教学核对来源：https://dictionary.cambridge.org/grammar/british-grammar/plurals</a:t>
            </a:r>
          </a:p>
          <a:p/>
          <a:p>
            <a:r>
              <a:t>授课提示：先让学生观察或尝试，再讨论本页例词。明确指出读音、拼写与意义的联系。</a:t>
            </a:r>
          </a:p>
          <a:p/>
          <a:p>
            <a:r>
              <a:t>原始资料：</a:t>
            </a:r>
          </a:p>
          <a:p>
            <a:r>
              <a:t>documents_zh/05-ips-approach.md</a:t>
            </a:r>
          </a:p>
          <a:p>
            <a:r>
              <a:t>documents_zh/06-ism-approach.md</a:t>
            </a:r>
          </a:p>
          <a:p/>
          <a:p>
            <a:r>
              <a:t>口音约定：除明确标注外，IPA采用英式词典常见读音。IPS为本项目助记标注。例句及练习为教学改编。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英式travel/travelling与美式traveling存在差异，作为拓展而非本页主规则。</a:t>
            </a:r>
          </a:p>
          <a:p>
            <a:r>
              <a:t>教学核对来源：https://dictionary.cambridge.org/grammar/british-grammar/plurals</a:t>
            </a:r>
          </a:p>
          <a:p/>
          <a:p>
            <a:r>
              <a:t>授课提示：先让学生观察或尝试，再讨论本页例词。明确指出读音、拼写与意义的联系。</a:t>
            </a:r>
          </a:p>
          <a:p/>
          <a:p>
            <a:r>
              <a:t>原始资料：</a:t>
            </a:r>
          </a:p>
          <a:p>
            <a:r>
              <a:t>documents_zh/05-ips-approach.md</a:t>
            </a:r>
          </a:p>
          <a:p>
            <a:r>
              <a:t>documents_zh/06-ism-approach.md</a:t>
            </a:r>
          </a:p>
          <a:p/>
          <a:p>
            <a:r>
              <a:t>口音约定：除明确标注外，IPA采用英式词典常见读音。IPS为本项目助记标注。例句及练习为教学改编。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学生独立书写，并在词旁写一句理由。答案下一页。</a:t>
            </a:r>
          </a:p>
          <a:p>
            <a:r>
              <a:t>教学核对来源：https://dictionary.cambridge.org/grammar/british-grammar/plurals</a:t>
            </a:r>
          </a:p>
          <a:p/>
          <a:p>
            <a:r>
              <a:t>授课提示：先让学生观察或尝试，再讨论本页例词。明确指出读音、拼写与意义的联系。</a:t>
            </a:r>
          </a:p>
          <a:p/>
          <a:p>
            <a:r>
              <a:t>原始资料：</a:t>
            </a:r>
          </a:p>
          <a:p>
            <a:r>
              <a:t>documents_zh/05-ips-approach.md</a:t>
            </a:r>
          </a:p>
          <a:p>
            <a:r>
              <a:t>documents_zh/06-ism-approach.md</a:t>
            </a:r>
          </a:p>
          <a:p/>
          <a:p>
            <a:r>
              <a:t>口音约定：除明确标注外，IPA采用英式词典常见读音。IPS为本项目助记标注。例句及练习为教学改编。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从错因入手反馈。若把making写为makking，应回到make末尾e，而非套用run的模式。</a:t>
            </a:r>
          </a:p>
          <a:p>
            <a:r>
              <a:t>教学核对来源：https://dictionary.cambridge.org/grammar/british-grammar/plurals</a:t>
            </a:r>
          </a:p>
          <a:p/>
          <a:p>
            <a:r>
              <a:t>授课提示：先让学生观察或尝试，再讨论本页例词。明确指出读音、拼写与意义的联系。</a:t>
            </a:r>
          </a:p>
          <a:p/>
          <a:p>
            <a:r>
              <a:t>原始资料：</a:t>
            </a:r>
          </a:p>
          <a:p>
            <a:r>
              <a:t>documents_zh/05-ips-approach.md</a:t>
            </a:r>
          </a:p>
          <a:p>
            <a:r>
              <a:t>documents_zh/06-ism-approach.md</a:t>
            </a:r>
          </a:p>
          <a:p/>
          <a:p>
            <a:r>
              <a:t>口音约定：除明确标注外，IPA采用英式词典常见读音。IPS为本项目助记标注。例句及练习为教学改编。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展示层级[[un+happy]+ness]只用于教师理解。学生先明白每层作用即可。unhappiness /ʌnˈhæp.i.nəs/。</a:t>
            </a:r>
          </a:p>
          <a:p/>
          <a:p>
            <a:r>
              <a:t>授课提示：先让学生观察或尝试，再讨论本页例词。明确指出读音、拼写与意义的联系。</a:t>
            </a:r>
          </a:p>
          <a:p/>
          <a:p>
            <a:r>
              <a:t>原始资料：</a:t>
            </a:r>
          </a:p>
          <a:p>
            <a:r>
              <a:t>documents_zh/05-ips-approach.md</a:t>
            </a:r>
          </a:p>
          <a:p>
            <a:r>
              <a:t>documents_zh/06-ism-approach.md</a:t>
            </a:r>
          </a:p>
          <a:p/>
          <a:p>
            <a:r>
              <a:t>口音约定：除明确标注外，IPA采用英式词典常见读音。IPS为本项目助记标注。例句及练习为教学改编。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active /ˈæk.tɪv/，activity /ækˈtɪv.ə.ti/。不把所有-ity词归为机械拼接，也不假设词族重音相同。</a:t>
            </a:r>
          </a:p>
          <a:p/>
          <a:p>
            <a:r>
              <a:t>授课提示：先让学生观察或尝试，再讨论本页例词。明确指出读音、拼写与意义的联系。</a:t>
            </a:r>
          </a:p>
          <a:p/>
          <a:p>
            <a:r>
              <a:t>原始资料：</a:t>
            </a:r>
          </a:p>
          <a:p>
            <a:r>
              <a:t>documents_zh/05-ips-approach.md</a:t>
            </a:r>
          </a:p>
          <a:p>
            <a:r>
              <a:t>documents_zh/06-ism-approach.md</a:t>
            </a:r>
          </a:p>
          <a:p/>
          <a:p>
            <a:r>
              <a:t>口音约定：除明确标注外，IPA采用英式词典常见读音。IPS为本项目助记标注。例句及练习为教学改编。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原文将连缀列为词素类别，实际教学不把所有连接元音都视为独立有义词素。biology /baɪˈɒl.ə.dʒi/。避免复杂强拆artificial。</a:t>
            </a:r>
          </a:p>
          <a:p/>
          <a:p>
            <a:r>
              <a:t>授课提示：先让学生观察或尝试，再讨论本页例词。明确指出读音、拼写与意义的联系。</a:t>
            </a:r>
          </a:p>
          <a:p/>
          <a:p>
            <a:r>
              <a:t>原始资料：</a:t>
            </a:r>
          </a:p>
          <a:p>
            <a:r>
              <a:t>documents_zh/05-ips-approach.md</a:t>
            </a:r>
          </a:p>
          <a:p>
            <a:r>
              <a:t>documents_zh/06-ism-approach.md</a:t>
            </a:r>
          </a:p>
          <a:p/>
          <a:p>
            <a:r>
              <a:t>口音约定：除明确标注外，IPA采用英式词典常见读音。IPS为本项目助记标注。例句及练习为教学改编。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/ˌʌn.bɪˈliː.və.bəl/。这是清楚的教学分析，不要求初学者按历史词源继续拆believe。</a:t>
            </a:r>
          </a:p>
          <a:p/>
          <a:p>
            <a:r>
              <a:t>授课提示：先让学生观察或尝试，再讨论本页例词。明确指出读音、拼写与意义的联系。</a:t>
            </a:r>
          </a:p>
          <a:p/>
          <a:p>
            <a:r>
              <a:t>原始资料：</a:t>
            </a:r>
          </a:p>
          <a:p>
            <a:r>
              <a:t>documents_zh/05-ips-approach.md</a:t>
            </a:r>
          </a:p>
          <a:p>
            <a:r>
              <a:t>documents_zh/06-ism-approach.md</a:t>
            </a:r>
          </a:p>
          <a:p/>
          <a:p>
            <a:r>
              <a:t>口音约定：除明确标注外，IPA采用英式词典常见读音。IPS为本项目助记标注。例句及练习为教学改编。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给出两个场景：精彩表演后赞叹；听到荒谬借口后不满。请学生用不同语调读同一句。</a:t>
            </a:r>
          </a:p>
          <a:p/>
          <a:p>
            <a:r>
              <a:t>授课提示：先让学生观察或尝试，再讨论本页例词。明确指出读音、拼写与意义的联系。</a:t>
            </a:r>
          </a:p>
          <a:p/>
          <a:p>
            <a:r>
              <a:t>原始资料：</a:t>
            </a:r>
          </a:p>
          <a:p>
            <a:r>
              <a:t>documents_zh/05-ips-approach.md</a:t>
            </a:r>
          </a:p>
          <a:p>
            <a:r>
              <a:t>documents_zh/06-ism-approach.md</a:t>
            </a:r>
          </a:p>
          <a:p/>
          <a:p>
            <a:r>
              <a:t>口音约定：除明确标注外，IPA采用英式词典常见读音。IPS为本项目助记标注。例句及练习为教学改编。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给4分钟小组任务。先判断构词，不按发音随意切成多个片段。</a:t>
            </a:r>
          </a:p>
          <a:p/>
          <a:p>
            <a:r>
              <a:t>授课提示：先让学生观察或尝试，再讨论本页例词。明确指出读音、拼写与意义的联系。</a:t>
            </a:r>
          </a:p>
          <a:p/>
          <a:p>
            <a:r>
              <a:t>原始资料：</a:t>
            </a:r>
          </a:p>
          <a:p>
            <a:r>
              <a:t>documents_zh/05-ips-approach.md</a:t>
            </a:r>
          </a:p>
          <a:p>
            <a:r>
              <a:t>documents_zh/06-ism-approach.md</a:t>
            </a:r>
          </a:p>
          <a:p/>
          <a:p>
            <a:r>
              <a:t>口音约定：除明确标注外，IPA采用英式词典常见读音。IPS为本项目助记标注。例句及练习为教学改编。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示范句表达她无法掩饰自己的不开心。第二句说这个故事令人难以置信。鼓励选用自然搭配。</a:t>
            </a:r>
          </a:p>
          <a:p/>
          <a:p>
            <a:r>
              <a:t>授课提示：先让学生观察或尝试，再讨论本页例词。明确指出读音、拼写与意义的联系。</a:t>
            </a:r>
          </a:p>
          <a:p/>
          <a:p>
            <a:r>
              <a:t>原始资料：</a:t>
            </a:r>
          </a:p>
          <a:p>
            <a:r>
              <a:t>documents_zh/05-ips-approach.md</a:t>
            </a:r>
          </a:p>
          <a:p>
            <a:r>
              <a:t>documents_zh/06-ism-approach.md</a:t>
            </a:r>
          </a:p>
          <a:p/>
          <a:p>
            <a:r>
              <a:t>口音约定：除明确标注外，IPA采用英式词典常见读音。IPS为本项目助记标注。例句及练习为教学改编。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参考：beginning/opening。学习记录中保留原词，帮助追溯变化；正式写作使用完整正确拼写。</a:t>
            </a:r>
          </a:p>
          <a:p/>
          <a:p>
            <a:r>
              <a:t>授课提示：先让学生观察或尝试，再讨论本页例词。明确指出读音、拼写与意义的联系。</a:t>
            </a:r>
          </a:p>
          <a:p/>
          <a:p>
            <a:r>
              <a:t>原始资料：</a:t>
            </a:r>
          </a:p>
          <a:p>
            <a:r>
              <a:t>documents_zh/05-ips-approach.md</a:t>
            </a:r>
          </a:p>
          <a:p>
            <a:r>
              <a:t>documents_zh/06-ism-approach.md</a:t>
            </a:r>
          </a:p>
          <a:p/>
          <a:p>
            <a:r>
              <a:t>口音约定：除明确标注外，IPA采用英式词典常见读音。IPS为本项目助记标注。例句及练习为教学改编。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-124"/>
          <p:cNvSpPr>
            <a:spLocks noGrp="1"/>
          </p:cNvSpPr>
          <p:nvPr/>
        </p:nvSpPr>
        <p:spPr>
          <a:xfrm>
            <a:off x="685800" y="666750"/>
            <a:ext cx="7524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0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音形意统一记忆法   /   第 05 课</a:t>
            </a:r>
            <a:endParaRPr sz="1800" b="0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125"/>
          <p:cNvSpPr>
            <a:spLocks noGrp="1"/>
          </p:cNvSpPr>
          <p:nvPr/>
        </p:nvSpPr>
        <p:spPr>
          <a:xfrm>
            <a:off x="685800" y="1952625"/>
            <a:ext cx="7048500" cy="2333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57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7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变形与
长词拆解</a:t>
            </a:r>
            <a:endParaRPr sz="5700" b="1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126"/>
          <p:cNvSpPr>
            <a:spLocks noGrp="1"/>
          </p:cNvSpPr>
          <p:nvPr/>
        </p:nvSpPr>
        <p:spPr>
          <a:xfrm>
            <a:off x="723900" y="4857750"/>
            <a:ext cx="657225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315E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315E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构词进阶 · 在变化中辨认熟悉部分</a:t>
            </a:r>
            <a:endParaRPr sz="2100" b="0">
              <a:solidFill>
                <a:srgbClr val="315E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text-127"/>
          <p:cNvSpPr>
            <a:spLocks noGrp="1"/>
          </p:cNvSpPr>
          <p:nvPr/>
        </p:nvSpPr>
        <p:spPr>
          <a:xfrm>
            <a:off x="685800" y="514350"/>
            <a:ext cx="107442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本课目标与复习</a:t>
            </a:r>
            <a:endParaRPr sz="3300" b="1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128"/>
          <p:cNvSpPr>
            <a:spLocks noGrp="1"/>
          </p:cNvSpPr>
          <p:nvPr/>
        </p:nvSpPr>
        <p:spPr>
          <a:xfrm>
            <a:off x="10477500" y="6229350"/>
            <a:ext cx="1066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  /  02</a:t>
            </a:r>
            <a:endParaRPr sz="1425" b="0">
              <a:solidFill>
                <a:srgbClr val="68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129"/>
          <p:cNvSpPr>
            <a:spLocks noGrp="1"/>
          </p:cNvSpPr>
          <p:nvPr/>
        </p:nvSpPr>
        <p:spPr>
          <a:xfrm>
            <a:off x="723900" y="1638300"/>
            <a:ext cx="1066800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15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happy + -ness</a:t>
            </a:r>
            <a:endParaRPr sz="3150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130"/>
          <p:cNvSpPr>
            <a:spLocks noGrp="1"/>
          </p:cNvSpPr>
          <p:nvPr/>
        </p:nvSpPr>
        <p:spPr>
          <a:xfrm>
            <a:off x="742950" y="2952750"/>
            <a:ext cx="6858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475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131"/>
          <p:cNvSpPr>
            <a:spLocks noGrp="1"/>
          </p:cNvSpPr>
          <p:nvPr/>
        </p:nvSpPr>
        <p:spPr>
          <a:xfrm>
            <a:off x="1666875" y="2943225"/>
            <a:ext cx="96012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复习：基础词、前缀和后缀的位置。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132"/>
          <p:cNvSpPr>
            <a:spLocks noGrp="1"/>
          </p:cNvSpPr>
          <p:nvPr/>
        </p:nvSpPr>
        <p:spPr>
          <a:xfrm>
            <a:off x="742950" y="3943350"/>
            <a:ext cx="6858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475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-133"/>
          <p:cNvSpPr>
            <a:spLocks noGrp="1"/>
          </p:cNvSpPr>
          <p:nvPr/>
        </p:nvSpPr>
        <p:spPr>
          <a:xfrm>
            <a:off x="1666875" y="3933825"/>
            <a:ext cx="96012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判断连接时是否改 y、去 e 或双写。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-134"/>
          <p:cNvSpPr>
            <a:spLocks noGrp="1"/>
          </p:cNvSpPr>
          <p:nvPr/>
        </p:nvSpPr>
        <p:spPr>
          <a:xfrm>
            <a:off x="742950" y="4933950"/>
            <a:ext cx="6858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475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-135"/>
          <p:cNvSpPr>
            <a:spLocks noGrp="1"/>
          </p:cNvSpPr>
          <p:nvPr/>
        </p:nvSpPr>
        <p:spPr>
          <a:xfrm>
            <a:off x="1666875" y="4924425"/>
            <a:ext cx="96012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按层级拆解长词，核对读音和语境。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text-136"/>
          <p:cNvSpPr>
            <a:spLocks noGrp="1"/>
          </p:cNvSpPr>
          <p:nvPr/>
        </p:nvSpPr>
        <p:spPr>
          <a:xfrm>
            <a:off x="685800" y="514350"/>
            <a:ext cx="107442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同一个否定前缀的常见变体</a:t>
            </a:r>
            <a:endParaRPr sz="3300" b="1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137"/>
          <p:cNvSpPr>
            <a:spLocks noGrp="1"/>
          </p:cNvSpPr>
          <p:nvPr/>
        </p:nvSpPr>
        <p:spPr>
          <a:xfrm>
            <a:off x="10477500" y="6229350"/>
            <a:ext cx="1066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  /  03</a:t>
            </a:r>
            <a:endParaRPr sz="1425" b="0">
              <a:solidFill>
                <a:srgbClr val="68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138"/>
          <p:cNvSpPr>
            <a:spLocks noGrp="1"/>
          </p:cNvSpPr>
          <p:nvPr/>
        </p:nvSpPr>
        <p:spPr>
          <a:xfrm>
            <a:off x="723900" y="1619250"/>
            <a:ext cx="10668000" cy="990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480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80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in-    im-    il-    ir-</a:t>
            </a:r>
            <a:endParaRPr sz="4800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139"/>
          <p:cNvSpPr>
            <a:spLocks noGrp="1"/>
          </p:cNvSpPr>
          <p:nvPr/>
        </p:nvSpPr>
        <p:spPr>
          <a:xfrm>
            <a:off x="723900" y="3105150"/>
            <a:ext cx="3267075" cy="2514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inaccurate：不准确的。
impossible：不可能的。</a:t>
            </a:r>
            <a:endParaRPr sz="2175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140"/>
          <p:cNvSpPr>
            <a:spLocks noGrp="1"/>
          </p:cNvSpPr>
          <p:nvPr/>
        </p:nvSpPr>
        <p:spPr>
          <a:xfrm>
            <a:off x="4429125" y="3105150"/>
            <a:ext cx="3267075" cy="2514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illegal：违法的。
irregular：不规则的。</a:t>
            </a:r>
            <a:endParaRPr sz="2175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141"/>
          <p:cNvSpPr>
            <a:spLocks noGrp="1"/>
          </p:cNvSpPr>
          <p:nvPr/>
        </p:nvSpPr>
        <p:spPr>
          <a:xfrm>
            <a:off x="8134350" y="3105150"/>
            <a:ext cx="3267075" cy="2514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前面的形式变化，
仍可表达否定意义。</a:t>
            </a:r>
            <a:endParaRPr sz="2175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text-142"/>
          <p:cNvSpPr>
            <a:spLocks noGrp="1"/>
          </p:cNvSpPr>
          <p:nvPr/>
        </p:nvSpPr>
        <p:spPr>
          <a:xfrm>
            <a:off x="685800" y="514350"/>
            <a:ext cx="107442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前缀同化与双写不同</a:t>
            </a:r>
            <a:endParaRPr sz="3300" b="1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143"/>
          <p:cNvSpPr>
            <a:spLocks noGrp="1"/>
          </p:cNvSpPr>
          <p:nvPr/>
        </p:nvSpPr>
        <p:spPr>
          <a:xfrm>
            <a:off x="10477500" y="6229350"/>
            <a:ext cx="1066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  /  04</a:t>
            </a:r>
            <a:endParaRPr sz="1425" b="0">
              <a:solidFill>
                <a:srgbClr val="68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144"/>
          <p:cNvSpPr>
            <a:spLocks noGrp="1"/>
          </p:cNvSpPr>
          <p:nvPr/>
        </p:nvSpPr>
        <p:spPr>
          <a:xfrm>
            <a:off x="685800" y="2209800"/>
            <a:ext cx="4667250" cy="2428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525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25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illegal</a:t>
            </a:r>
            <a:endParaRPr sz="5250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145"/>
          <p:cNvSpPr>
            <a:spLocks noGrp="1"/>
          </p:cNvSpPr>
          <p:nvPr/>
        </p:nvSpPr>
        <p:spPr>
          <a:xfrm>
            <a:off x="5905500" y="1866900"/>
            <a:ext cx="561975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il- + legal：前缀与基础部分结合。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146"/>
          <p:cNvSpPr>
            <a:spLocks noGrp="1"/>
          </p:cNvSpPr>
          <p:nvPr/>
        </p:nvSpPr>
        <p:spPr>
          <a:xfrm>
            <a:off x="5905500" y="3171825"/>
            <a:ext cx="561975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两个 l 出现在构词连接处。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147"/>
          <p:cNvSpPr>
            <a:spLocks noGrp="1"/>
          </p:cNvSpPr>
          <p:nvPr/>
        </p:nvSpPr>
        <p:spPr>
          <a:xfrm>
            <a:off x="5905500" y="4476750"/>
            <a:ext cx="561975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running 的两个 n 来自加词尾时双写。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text-148"/>
          <p:cNvSpPr>
            <a:spLocks noGrp="1"/>
          </p:cNvSpPr>
          <p:nvPr/>
        </p:nvSpPr>
        <p:spPr>
          <a:xfrm>
            <a:off x="685800" y="514350"/>
            <a:ext cx="107442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辅音字母 + y：常改为 i</a:t>
            </a:r>
            <a:endParaRPr sz="3300" b="1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149"/>
          <p:cNvSpPr>
            <a:spLocks noGrp="1"/>
          </p:cNvSpPr>
          <p:nvPr/>
        </p:nvSpPr>
        <p:spPr>
          <a:xfrm>
            <a:off x="10477500" y="6229350"/>
            <a:ext cx="1066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  /  05</a:t>
            </a:r>
            <a:endParaRPr sz="1425" b="0">
              <a:solidFill>
                <a:srgbClr val="68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150"/>
          <p:cNvSpPr>
            <a:spLocks noGrp="1"/>
          </p:cNvSpPr>
          <p:nvPr/>
        </p:nvSpPr>
        <p:spPr>
          <a:xfrm>
            <a:off x="685800" y="2209800"/>
            <a:ext cx="4667250" cy="2428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525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25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happy + </a:t>
            </a:r>
            <a:endParaRPr sz="5250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525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25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-ness</a:t>
            </a:r>
            <a:endParaRPr sz="5250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151"/>
          <p:cNvSpPr>
            <a:spLocks noGrp="1"/>
          </p:cNvSpPr>
          <p:nvPr/>
        </p:nvSpPr>
        <p:spPr>
          <a:xfrm>
            <a:off x="5905500" y="1866900"/>
            <a:ext cx="561975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happiness：幸福。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152"/>
          <p:cNvSpPr>
            <a:spLocks noGrp="1"/>
          </p:cNvSpPr>
          <p:nvPr/>
        </p:nvSpPr>
        <p:spPr>
          <a:xfrm>
            <a:off x="5905500" y="3171825"/>
            <a:ext cx="561975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happy + -er = happier。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153"/>
          <p:cNvSpPr>
            <a:spLocks noGrp="1"/>
          </p:cNvSpPr>
          <p:nvPr/>
        </p:nvSpPr>
        <p:spPr>
          <a:xfrm>
            <a:off x="5905500" y="4476750"/>
            <a:ext cx="561975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观察 y 前的字母 p，再判断。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text-154"/>
          <p:cNvSpPr>
            <a:spLocks noGrp="1"/>
          </p:cNvSpPr>
          <p:nvPr/>
        </p:nvSpPr>
        <p:spPr>
          <a:xfrm>
            <a:off x="685800" y="514350"/>
            <a:ext cx="107442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两种保留 y 的情况</a:t>
            </a:r>
            <a:endParaRPr sz="3300" b="1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155"/>
          <p:cNvSpPr>
            <a:spLocks noGrp="1"/>
          </p:cNvSpPr>
          <p:nvPr/>
        </p:nvSpPr>
        <p:spPr>
          <a:xfrm>
            <a:off x="10477500" y="6229350"/>
            <a:ext cx="1066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  /  06</a:t>
            </a:r>
            <a:endParaRPr sz="1425" b="0">
              <a:solidFill>
                <a:srgbClr val="68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156"/>
          <p:cNvSpPr>
            <a:spLocks noGrp="1"/>
          </p:cNvSpPr>
          <p:nvPr/>
        </p:nvSpPr>
        <p:spPr>
          <a:xfrm>
            <a:off x="723900" y="1619250"/>
            <a:ext cx="10668000" cy="990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480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80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play      study</a:t>
            </a:r>
            <a:endParaRPr sz="4800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157"/>
          <p:cNvSpPr>
            <a:spLocks noGrp="1"/>
          </p:cNvSpPr>
          <p:nvPr/>
        </p:nvSpPr>
        <p:spPr>
          <a:xfrm>
            <a:off x="723900" y="3105150"/>
            <a:ext cx="3267075" cy="2514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元音字母 + y：
play + -ed = played。</a:t>
            </a:r>
            <a:endParaRPr sz="2175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158"/>
          <p:cNvSpPr>
            <a:spLocks noGrp="1"/>
          </p:cNvSpPr>
          <p:nvPr/>
        </p:nvSpPr>
        <p:spPr>
          <a:xfrm>
            <a:off x="4429125" y="3105150"/>
            <a:ext cx="3267075" cy="2514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 -ing 时：
study + -ing = studying。</a:t>
            </a:r>
            <a:endParaRPr sz="2175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159"/>
          <p:cNvSpPr>
            <a:spLocks noGrp="1"/>
          </p:cNvSpPr>
          <p:nvPr/>
        </p:nvSpPr>
        <p:spPr>
          <a:xfrm>
            <a:off x="8134350" y="3105150"/>
            <a:ext cx="3267075" cy="2514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先检查拼写环境和后缀，
再决定是否变化。</a:t>
            </a:r>
            <a:endParaRPr sz="2175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text-160"/>
          <p:cNvSpPr>
            <a:spLocks noGrp="1"/>
          </p:cNvSpPr>
          <p:nvPr/>
        </p:nvSpPr>
        <p:spPr>
          <a:xfrm>
            <a:off x="685800" y="514350"/>
            <a:ext cx="107442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不发音 e 与元音开头词尾</a:t>
            </a:r>
            <a:endParaRPr sz="3300" b="1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161"/>
          <p:cNvSpPr>
            <a:spLocks noGrp="1"/>
          </p:cNvSpPr>
          <p:nvPr/>
        </p:nvSpPr>
        <p:spPr>
          <a:xfrm>
            <a:off x="10477500" y="6229350"/>
            <a:ext cx="1066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  /  07</a:t>
            </a:r>
            <a:endParaRPr sz="1425" b="0">
              <a:solidFill>
                <a:srgbClr val="68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162"/>
          <p:cNvSpPr>
            <a:spLocks noGrp="1"/>
          </p:cNvSpPr>
          <p:nvPr/>
        </p:nvSpPr>
        <p:spPr>
          <a:xfrm>
            <a:off x="685800" y="2209800"/>
            <a:ext cx="4667250" cy="2428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525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25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make + -ing</a:t>
            </a:r>
            <a:endParaRPr sz="5250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163"/>
          <p:cNvSpPr>
            <a:spLocks noGrp="1"/>
          </p:cNvSpPr>
          <p:nvPr/>
        </p:nvSpPr>
        <p:spPr>
          <a:xfrm>
            <a:off x="5905500" y="1866900"/>
            <a:ext cx="561975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making：去掉不发音的 e。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164"/>
          <p:cNvSpPr>
            <a:spLocks noGrp="1"/>
          </p:cNvSpPr>
          <p:nvPr/>
        </p:nvSpPr>
        <p:spPr>
          <a:xfrm>
            <a:off x="5905500" y="3171825"/>
            <a:ext cx="561975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hope + -ing = hoping。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165"/>
          <p:cNvSpPr>
            <a:spLocks noGrp="1"/>
          </p:cNvSpPr>
          <p:nvPr/>
        </p:nvSpPr>
        <p:spPr>
          <a:xfrm>
            <a:off x="5905500" y="4476750"/>
            <a:ext cx="561975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观察基础词，保留其余字母顺序。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text-166"/>
          <p:cNvSpPr>
            <a:spLocks noGrp="1"/>
          </p:cNvSpPr>
          <p:nvPr/>
        </p:nvSpPr>
        <p:spPr>
          <a:xfrm>
            <a:off x="685800" y="514350"/>
            <a:ext cx="107442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保留 e 的常见情况</a:t>
            </a:r>
            <a:endParaRPr sz="3300" b="1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167"/>
          <p:cNvSpPr>
            <a:spLocks noGrp="1"/>
          </p:cNvSpPr>
          <p:nvPr/>
        </p:nvSpPr>
        <p:spPr>
          <a:xfrm>
            <a:off x="10477500" y="6229350"/>
            <a:ext cx="1066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  /  08</a:t>
            </a:r>
            <a:endParaRPr sz="1425" b="0">
              <a:solidFill>
                <a:srgbClr val="68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168"/>
          <p:cNvSpPr>
            <a:spLocks noGrp="1"/>
          </p:cNvSpPr>
          <p:nvPr/>
        </p:nvSpPr>
        <p:spPr>
          <a:xfrm>
            <a:off x="723900" y="1619250"/>
            <a:ext cx="10668000" cy="990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480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80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hopeful    changeable</a:t>
            </a:r>
            <a:endParaRPr sz="4800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169"/>
          <p:cNvSpPr>
            <a:spLocks noGrp="1"/>
          </p:cNvSpPr>
          <p:nvPr/>
        </p:nvSpPr>
        <p:spPr>
          <a:xfrm>
            <a:off x="723900" y="3105150"/>
            <a:ext cx="3267075" cy="2514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hope + -ful = hopeful。
辅音开头词尾，常留 e。</a:t>
            </a:r>
            <a:endParaRPr sz="2175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170"/>
          <p:cNvSpPr>
            <a:spLocks noGrp="1"/>
          </p:cNvSpPr>
          <p:nvPr/>
        </p:nvSpPr>
        <p:spPr>
          <a:xfrm>
            <a:off x="4429125" y="3105150"/>
            <a:ext cx="3267075" cy="2514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change + -able = changeable。
e 帮助保留 g 的软音。</a:t>
            </a:r>
            <a:endParaRPr sz="2175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171"/>
          <p:cNvSpPr>
            <a:spLocks noGrp="1"/>
          </p:cNvSpPr>
          <p:nvPr/>
        </p:nvSpPr>
        <p:spPr>
          <a:xfrm>
            <a:off x="8134350" y="3105150"/>
            <a:ext cx="3267075" cy="2514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每条变化规则都要配一个边界例词。</a:t>
            </a:r>
            <a:endParaRPr sz="2175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text-172"/>
          <p:cNvSpPr>
            <a:spLocks noGrp="1"/>
          </p:cNvSpPr>
          <p:nvPr/>
        </p:nvSpPr>
        <p:spPr>
          <a:xfrm>
            <a:off x="685800" y="514350"/>
            <a:ext cx="107442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单音节短词的双写</a:t>
            </a:r>
            <a:endParaRPr sz="3300" b="1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173"/>
          <p:cNvSpPr>
            <a:spLocks noGrp="1"/>
          </p:cNvSpPr>
          <p:nvPr/>
        </p:nvSpPr>
        <p:spPr>
          <a:xfrm>
            <a:off x="10477500" y="6229350"/>
            <a:ext cx="1066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  /  09</a:t>
            </a:r>
            <a:endParaRPr sz="1425" b="0">
              <a:solidFill>
                <a:srgbClr val="68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174"/>
          <p:cNvSpPr>
            <a:spLocks noGrp="1"/>
          </p:cNvSpPr>
          <p:nvPr/>
        </p:nvSpPr>
        <p:spPr>
          <a:xfrm>
            <a:off x="685800" y="2209800"/>
            <a:ext cx="4667250" cy="2428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525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25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stop + -ing</a:t>
            </a:r>
            <a:endParaRPr sz="5250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175"/>
          <p:cNvSpPr>
            <a:spLocks noGrp="1"/>
          </p:cNvSpPr>
          <p:nvPr/>
        </p:nvSpPr>
        <p:spPr>
          <a:xfrm>
            <a:off x="5905500" y="1866900"/>
            <a:ext cx="561975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stopping：p 双写。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176"/>
          <p:cNvSpPr>
            <a:spLocks noGrp="1"/>
          </p:cNvSpPr>
          <p:nvPr/>
        </p:nvSpPr>
        <p:spPr>
          <a:xfrm>
            <a:off x="5905500" y="3171825"/>
            <a:ext cx="561975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末尾是单个元音字母 + 单个辅音字母。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177"/>
          <p:cNvSpPr>
            <a:spLocks noGrp="1"/>
          </p:cNvSpPr>
          <p:nvPr/>
        </p:nvSpPr>
        <p:spPr>
          <a:xfrm>
            <a:off x="5905500" y="4476750"/>
            <a:ext cx="561975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这一重读短元音结构，
加 -ing 等词尾时常需双写。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text-178"/>
          <p:cNvSpPr>
            <a:spLocks noGrp="1"/>
          </p:cNvSpPr>
          <p:nvPr/>
        </p:nvSpPr>
        <p:spPr>
          <a:xfrm>
            <a:off x="685800" y="514350"/>
            <a:ext cx="107442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多音节词还要看重音</a:t>
            </a:r>
            <a:endParaRPr sz="3300" b="1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179"/>
          <p:cNvSpPr>
            <a:spLocks noGrp="1"/>
          </p:cNvSpPr>
          <p:nvPr/>
        </p:nvSpPr>
        <p:spPr>
          <a:xfrm>
            <a:off x="10477500" y="6229350"/>
            <a:ext cx="1066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  /  10</a:t>
            </a:r>
            <a:endParaRPr sz="1425" b="0">
              <a:solidFill>
                <a:srgbClr val="68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180"/>
          <p:cNvSpPr>
            <a:spLocks noGrp="1"/>
          </p:cNvSpPr>
          <p:nvPr/>
        </p:nvSpPr>
        <p:spPr>
          <a:xfrm>
            <a:off x="723900" y="1619250"/>
            <a:ext cx="10668000" cy="990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480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80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begin      open</a:t>
            </a:r>
            <a:endParaRPr sz="4800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181"/>
          <p:cNvSpPr>
            <a:spLocks noGrp="1"/>
          </p:cNvSpPr>
          <p:nvPr/>
        </p:nvSpPr>
        <p:spPr>
          <a:xfrm>
            <a:off x="723900" y="3105150"/>
            <a:ext cx="3267075" cy="2514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begin：末音节重读。
beginning，双写 n。</a:t>
            </a:r>
            <a:endParaRPr sz="2175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182"/>
          <p:cNvSpPr>
            <a:spLocks noGrp="1"/>
          </p:cNvSpPr>
          <p:nvPr/>
        </p:nvSpPr>
        <p:spPr>
          <a:xfrm>
            <a:off x="4429125" y="3105150"/>
            <a:ext cx="3267075" cy="2514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open：末音节不重读。
opening，不双写 n。</a:t>
            </a:r>
            <a:endParaRPr sz="2175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183"/>
          <p:cNvSpPr>
            <a:spLocks noGrp="1"/>
          </p:cNvSpPr>
          <p:nvPr/>
        </p:nvSpPr>
        <p:spPr>
          <a:xfrm>
            <a:off x="8134350" y="3105150"/>
            <a:ext cx="3267075" cy="2514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先读出重音，再判断拼写变化。</a:t>
            </a:r>
            <a:endParaRPr sz="2175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text-184"/>
          <p:cNvSpPr>
            <a:spLocks noGrp="1"/>
          </p:cNvSpPr>
          <p:nvPr/>
        </p:nvSpPr>
        <p:spPr>
          <a:xfrm>
            <a:off x="685800" y="514350"/>
            <a:ext cx="107442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练习：写出正确词形</a:t>
            </a:r>
            <a:endParaRPr sz="3300" b="1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185"/>
          <p:cNvSpPr>
            <a:spLocks noGrp="1"/>
          </p:cNvSpPr>
          <p:nvPr/>
        </p:nvSpPr>
        <p:spPr>
          <a:xfrm>
            <a:off x="10477500" y="6229350"/>
            <a:ext cx="1066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  /  11</a:t>
            </a:r>
            <a:endParaRPr sz="1425" b="0">
              <a:solidFill>
                <a:srgbClr val="68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186"/>
          <p:cNvSpPr>
            <a:spLocks noGrp="1"/>
          </p:cNvSpPr>
          <p:nvPr/>
        </p:nvSpPr>
        <p:spPr>
          <a:xfrm>
            <a:off x="723900" y="1638300"/>
            <a:ext cx="1066800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420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20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study   make   run</a:t>
            </a:r>
            <a:endParaRPr sz="4200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187"/>
          <p:cNvSpPr>
            <a:spLocks noGrp="1"/>
          </p:cNvSpPr>
          <p:nvPr/>
        </p:nvSpPr>
        <p:spPr>
          <a:xfrm>
            <a:off x="742950" y="2952750"/>
            <a:ext cx="6858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475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188"/>
          <p:cNvSpPr>
            <a:spLocks noGrp="1"/>
          </p:cNvSpPr>
          <p:nvPr/>
        </p:nvSpPr>
        <p:spPr>
          <a:xfrm>
            <a:off x="1666875" y="2943225"/>
            <a:ext cx="96012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study + -ed = ______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189"/>
          <p:cNvSpPr>
            <a:spLocks noGrp="1"/>
          </p:cNvSpPr>
          <p:nvPr/>
        </p:nvSpPr>
        <p:spPr>
          <a:xfrm>
            <a:off x="742950" y="3943350"/>
            <a:ext cx="6858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475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-190"/>
          <p:cNvSpPr>
            <a:spLocks noGrp="1"/>
          </p:cNvSpPr>
          <p:nvPr/>
        </p:nvSpPr>
        <p:spPr>
          <a:xfrm>
            <a:off x="1666875" y="3933825"/>
            <a:ext cx="96012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make + -ing = ______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-191"/>
          <p:cNvSpPr>
            <a:spLocks noGrp="1"/>
          </p:cNvSpPr>
          <p:nvPr/>
        </p:nvSpPr>
        <p:spPr>
          <a:xfrm>
            <a:off x="742950" y="4933950"/>
            <a:ext cx="6858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475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-192"/>
          <p:cNvSpPr>
            <a:spLocks noGrp="1"/>
          </p:cNvSpPr>
          <p:nvPr/>
        </p:nvSpPr>
        <p:spPr>
          <a:xfrm>
            <a:off x="1666875" y="4924425"/>
            <a:ext cx="96012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run + -ing = ______
open + -ing = ______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text-193"/>
          <p:cNvSpPr>
            <a:spLocks noGrp="1"/>
          </p:cNvSpPr>
          <p:nvPr/>
        </p:nvSpPr>
        <p:spPr>
          <a:xfrm>
            <a:off x="685800" y="514350"/>
            <a:ext cx="107442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练习答案与理由</a:t>
            </a:r>
            <a:endParaRPr sz="3300" b="1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194"/>
          <p:cNvSpPr>
            <a:spLocks noGrp="1"/>
          </p:cNvSpPr>
          <p:nvPr/>
        </p:nvSpPr>
        <p:spPr>
          <a:xfrm>
            <a:off x="10477500" y="6229350"/>
            <a:ext cx="1066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  /  12</a:t>
            </a:r>
            <a:endParaRPr sz="1425" b="0">
              <a:solidFill>
                <a:srgbClr val="68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195"/>
          <p:cNvSpPr>
            <a:spLocks noGrp="1"/>
          </p:cNvSpPr>
          <p:nvPr/>
        </p:nvSpPr>
        <p:spPr>
          <a:xfrm>
            <a:off x="723900" y="1638300"/>
            <a:ext cx="1066800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420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20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studied    making</a:t>
            </a:r>
            <a:endParaRPr sz="4200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196"/>
          <p:cNvSpPr>
            <a:spLocks noGrp="1"/>
          </p:cNvSpPr>
          <p:nvPr/>
        </p:nvSpPr>
        <p:spPr>
          <a:xfrm>
            <a:off x="742950" y="2952750"/>
            <a:ext cx="6858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475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197"/>
          <p:cNvSpPr>
            <a:spLocks noGrp="1"/>
          </p:cNvSpPr>
          <p:nvPr/>
        </p:nvSpPr>
        <p:spPr>
          <a:xfrm>
            <a:off x="1666875" y="2943225"/>
            <a:ext cx="96012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studied：辅音字母 + y，改 y 为 i。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198"/>
          <p:cNvSpPr>
            <a:spLocks noGrp="1"/>
          </p:cNvSpPr>
          <p:nvPr/>
        </p:nvSpPr>
        <p:spPr>
          <a:xfrm>
            <a:off x="742950" y="3943350"/>
            <a:ext cx="6858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475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-199"/>
          <p:cNvSpPr>
            <a:spLocks noGrp="1"/>
          </p:cNvSpPr>
          <p:nvPr/>
        </p:nvSpPr>
        <p:spPr>
          <a:xfrm>
            <a:off x="1666875" y="3933825"/>
            <a:ext cx="96012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making：去掉不发音的 e。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-200"/>
          <p:cNvSpPr>
            <a:spLocks noGrp="1"/>
          </p:cNvSpPr>
          <p:nvPr/>
        </p:nvSpPr>
        <p:spPr>
          <a:xfrm>
            <a:off x="742950" y="4933950"/>
            <a:ext cx="6858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475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-201"/>
          <p:cNvSpPr>
            <a:spLocks noGrp="1"/>
          </p:cNvSpPr>
          <p:nvPr/>
        </p:nvSpPr>
        <p:spPr>
          <a:xfrm>
            <a:off x="1666875" y="4924425"/>
            <a:ext cx="96012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running：双写 n。
opening：末音节不重读，不双写。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text-202"/>
          <p:cNvSpPr>
            <a:spLocks noGrp="1"/>
          </p:cNvSpPr>
          <p:nvPr/>
        </p:nvSpPr>
        <p:spPr>
          <a:xfrm>
            <a:off x="685800" y="514350"/>
            <a:ext cx="107442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层层构词：unhappiness</a:t>
            </a:r>
            <a:endParaRPr sz="3300" b="1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203"/>
          <p:cNvSpPr>
            <a:spLocks noGrp="1"/>
          </p:cNvSpPr>
          <p:nvPr/>
        </p:nvSpPr>
        <p:spPr>
          <a:xfrm>
            <a:off x="10477500" y="6229350"/>
            <a:ext cx="1066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  /  13</a:t>
            </a:r>
            <a:endParaRPr sz="1425" b="0">
              <a:solidFill>
                <a:srgbClr val="68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204"/>
          <p:cNvSpPr>
            <a:spLocks noGrp="1"/>
          </p:cNvSpPr>
          <p:nvPr/>
        </p:nvSpPr>
        <p:spPr>
          <a:xfrm>
            <a:off x="685800" y="2209800"/>
            <a:ext cx="4667250" cy="2428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420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20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un + happy + </a:t>
            </a:r>
            <a:endParaRPr sz="4200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420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20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-ness</a:t>
            </a:r>
            <a:endParaRPr sz="4200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205"/>
          <p:cNvSpPr>
            <a:spLocks noGrp="1"/>
          </p:cNvSpPr>
          <p:nvPr/>
        </p:nvSpPr>
        <p:spPr>
          <a:xfrm>
            <a:off x="5905500" y="1866900"/>
            <a:ext cx="561975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happy：开心的。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206"/>
          <p:cNvSpPr>
            <a:spLocks noGrp="1"/>
          </p:cNvSpPr>
          <p:nvPr/>
        </p:nvSpPr>
        <p:spPr>
          <a:xfrm>
            <a:off x="5905500" y="3171825"/>
            <a:ext cx="561975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unhappy：不开心的。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207"/>
          <p:cNvSpPr>
            <a:spLocks noGrp="1"/>
          </p:cNvSpPr>
          <p:nvPr/>
        </p:nvSpPr>
        <p:spPr>
          <a:xfrm>
            <a:off x="5905500" y="4476750"/>
            <a:ext cx="561975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unhappiness：不开心、痛苦的状态。
加 -ness 时 y 改为 i。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text-208"/>
          <p:cNvSpPr>
            <a:spLocks noGrp="1"/>
          </p:cNvSpPr>
          <p:nvPr/>
        </p:nvSpPr>
        <p:spPr>
          <a:xfrm>
            <a:off x="685800" y="514350"/>
            <a:ext cx="107442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词族扩展：从 active 到 activity</a:t>
            </a:r>
            <a:endParaRPr sz="3300" b="1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209"/>
          <p:cNvSpPr>
            <a:spLocks noGrp="1"/>
          </p:cNvSpPr>
          <p:nvPr/>
        </p:nvSpPr>
        <p:spPr>
          <a:xfrm>
            <a:off x="10477500" y="6229350"/>
            <a:ext cx="1066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  /  14</a:t>
            </a:r>
            <a:endParaRPr sz="1425" b="0">
              <a:solidFill>
                <a:srgbClr val="68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210"/>
          <p:cNvSpPr>
            <a:spLocks noGrp="1"/>
          </p:cNvSpPr>
          <p:nvPr/>
        </p:nvSpPr>
        <p:spPr>
          <a:xfrm>
            <a:off x="685800" y="2209800"/>
            <a:ext cx="4667250" cy="2428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420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20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active     </a:t>
            </a:r>
            <a:endParaRPr sz="4200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420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20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activity</a:t>
            </a:r>
            <a:endParaRPr sz="4200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211"/>
          <p:cNvSpPr>
            <a:spLocks noGrp="1"/>
          </p:cNvSpPr>
          <p:nvPr/>
        </p:nvSpPr>
        <p:spPr>
          <a:xfrm>
            <a:off x="5905500" y="1866900"/>
            <a:ext cx="561975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active：活跃的，形容词。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212"/>
          <p:cNvSpPr>
            <a:spLocks noGrp="1"/>
          </p:cNvSpPr>
          <p:nvPr/>
        </p:nvSpPr>
        <p:spPr>
          <a:xfrm>
            <a:off x="5905500" y="3171825"/>
            <a:ext cx="561975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activity：活动，名词。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213"/>
          <p:cNvSpPr>
            <a:spLocks noGrp="1"/>
          </p:cNvSpPr>
          <p:nvPr/>
        </p:nvSpPr>
        <p:spPr>
          <a:xfrm>
            <a:off x="5905500" y="4476750"/>
            <a:ext cx="561975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拼写变化伴随重音变化。
两词应分别听读。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text-214"/>
          <p:cNvSpPr>
            <a:spLocks noGrp="1"/>
          </p:cNvSpPr>
          <p:nvPr/>
        </p:nvSpPr>
        <p:spPr>
          <a:xfrm>
            <a:off x="685800" y="514350"/>
            <a:ext cx="107442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连缀：让组合部分连接</a:t>
            </a:r>
            <a:endParaRPr sz="3300" b="1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215"/>
          <p:cNvSpPr>
            <a:spLocks noGrp="1"/>
          </p:cNvSpPr>
          <p:nvPr/>
        </p:nvSpPr>
        <p:spPr>
          <a:xfrm>
            <a:off x="10477500" y="6229350"/>
            <a:ext cx="1066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  /  15</a:t>
            </a:r>
            <a:endParaRPr sz="1425" b="0">
              <a:solidFill>
                <a:srgbClr val="68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216"/>
          <p:cNvSpPr>
            <a:spLocks noGrp="1"/>
          </p:cNvSpPr>
          <p:nvPr/>
        </p:nvSpPr>
        <p:spPr>
          <a:xfrm>
            <a:off x="685800" y="2209800"/>
            <a:ext cx="4667250" cy="2428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525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25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bio + logy</a:t>
            </a:r>
            <a:endParaRPr sz="5250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217"/>
          <p:cNvSpPr>
            <a:spLocks noGrp="1"/>
          </p:cNvSpPr>
          <p:nvPr/>
        </p:nvSpPr>
        <p:spPr>
          <a:xfrm>
            <a:off x="5905500" y="1866900"/>
            <a:ext cx="561975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biology：生物学。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218"/>
          <p:cNvSpPr>
            <a:spLocks noGrp="1"/>
          </p:cNvSpPr>
          <p:nvPr/>
        </p:nvSpPr>
        <p:spPr>
          <a:xfrm>
            <a:off x="5905500" y="3171825"/>
            <a:ext cx="561975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bio- 提供“生命”的意义线索。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219"/>
          <p:cNvSpPr>
            <a:spLocks noGrp="1"/>
          </p:cNvSpPr>
          <p:nvPr/>
        </p:nvSpPr>
        <p:spPr>
          <a:xfrm>
            <a:off x="5905500" y="4476750"/>
            <a:ext cx="561975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历史构词可进一步分析连接元音。
入门时把 bio- 作为整体记忆。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text-220"/>
          <p:cNvSpPr>
            <a:spLocks noGrp="1"/>
          </p:cNvSpPr>
          <p:nvPr/>
        </p:nvSpPr>
        <p:spPr>
          <a:xfrm>
            <a:off x="685800" y="514350"/>
            <a:ext cx="107442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长词示范：unbelievable</a:t>
            </a:r>
            <a:endParaRPr sz="3300" b="1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221"/>
          <p:cNvSpPr>
            <a:spLocks noGrp="1"/>
          </p:cNvSpPr>
          <p:nvPr/>
        </p:nvSpPr>
        <p:spPr>
          <a:xfrm>
            <a:off x="10477500" y="6229350"/>
            <a:ext cx="1066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  /  16</a:t>
            </a:r>
            <a:endParaRPr sz="1425" b="0">
              <a:solidFill>
                <a:srgbClr val="68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222"/>
          <p:cNvSpPr>
            <a:spLocks noGrp="1"/>
          </p:cNvSpPr>
          <p:nvPr/>
        </p:nvSpPr>
        <p:spPr>
          <a:xfrm>
            <a:off x="685800" y="2209800"/>
            <a:ext cx="4667250" cy="2428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420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20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un + believe + -able</a:t>
            </a:r>
            <a:endParaRPr sz="4200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223"/>
          <p:cNvSpPr>
            <a:spLocks noGrp="1"/>
          </p:cNvSpPr>
          <p:nvPr/>
        </p:nvSpPr>
        <p:spPr>
          <a:xfrm>
            <a:off x="5905500" y="1866900"/>
            <a:ext cx="561975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believe：相信。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224"/>
          <p:cNvSpPr>
            <a:spLocks noGrp="1"/>
          </p:cNvSpPr>
          <p:nvPr/>
        </p:nvSpPr>
        <p:spPr>
          <a:xfrm>
            <a:off x="5905500" y="3171825"/>
            <a:ext cx="561975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believable：可信的。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225"/>
          <p:cNvSpPr>
            <a:spLocks noGrp="1"/>
          </p:cNvSpPr>
          <p:nvPr/>
        </p:nvSpPr>
        <p:spPr>
          <a:xfrm>
            <a:off x="5905500" y="4476750"/>
            <a:ext cx="561975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unbelievable：难以置信的。
believe 接 -able 时去 e。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text-226"/>
          <p:cNvSpPr>
            <a:spLocks noGrp="1"/>
          </p:cNvSpPr>
          <p:nvPr/>
        </p:nvSpPr>
        <p:spPr>
          <a:xfrm>
            <a:off x="685800" y="514350"/>
            <a:ext cx="107442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放回语境：同词不同语气</a:t>
            </a:r>
            <a:endParaRPr sz="3300" b="1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227"/>
          <p:cNvSpPr>
            <a:spLocks noGrp="1"/>
          </p:cNvSpPr>
          <p:nvPr/>
        </p:nvSpPr>
        <p:spPr>
          <a:xfrm>
            <a:off x="10477500" y="6229350"/>
            <a:ext cx="1066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  /  17</a:t>
            </a:r>
            <a:endParaRPr sz="1425" b="0">
              <a:solidFill>
                <a:srgbClr val="68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228"/>
          <p:cNvSpPr>
            <a:spLocks noGrp="1"/>
          </p:cNvSpPr>
          <p:nvPr/>
        </p:nvSpPr>
        <p:spPr>
          <a:xfrm>
            <a:off x="685800" y="2209800"/>
            <a:ext cx="4667250" cy="2428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420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20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That was unbelievable!</a:t>
            </a:r>
            <a:endParaRPr sz="4200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229"/>
          <p:cNvSpPr>
            <a:spLocks noGrp="1"/>
          </p:cNvSpPr>
          <p:nvPr/>
        </p:nvSpPr>
        <p:spPr>
          <a:xfrm>
            <a:off x="5905500" y="1866900"/>
            <a:ext cx="561975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它可能表达惊喜，也可能表达不满。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230"/>
          <p:cNvSpPr>
            <a:spLocks noGrp="1"/>
          </p:cNvSpPr>
          <p:nvPr/>
        </p:nvSpPr>
        <p:spPr>
          <a:xfrm>
            <a:off x="5905500" y="3171825"/>
            <a:ext cx="561975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先看发生了什么、说话人的语气如何。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231"/>
          <p:cNvSpPr>
            <a:spLocks noGrp="1"/>
          </p:cNvSpPr>
          <p:nvPr/>
        </p:nvSpPr>
        <p:spPr>
          <a:xfrm>
            <a:off x="5905500" y="4476750"/>
            <a:ext cx="561975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构词帮助理解大意，
具体意思仍由语境补足。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text-232"/>
          <p:cNvSpPr>
            <a:spLocks noGrp="1"/>
          </p:cNvSpPr>
          <p:nvPr/>
        </p:nvSpPr>
        <p:spPr>
          <a:xfrm>
            <a:off x="685800" y="514350"/>
            <a:ext cx="107442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综合练习：合理拆分长词</a:t>
            </a:r>
            <a:endParaRPr sz="3300" b="1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233"/>
          <p:cNvSpPr>
            <a:spLocks noGrp="1"/>
          </p:cNvSpPr>
          <p:nvPr/>
        </p:nvSpPr>
        <p:spPr>
          <a:xfrm>
            <a:off x="10477500" y="6229350"/>
            <a:ext cx="1066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  /  18</a:t>
            </a:r>
            <a:endParaRPr sz="1425" b="0">
              <a:solidFill>
                <a:srgbClr val="68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234"/>
          <p:cNvSpPr>
            <a:spLocks noGrp="1"/>
          </p:cNvSpPr>
          <p:nvPr/>
        </p:nvSpPr>
        <p:spPr>
          <a:xfrm>
            <a:off x="723900" y="1638300"/>
            <a:ext cx="1066800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420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20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两个长词的构词</a:t>
            </a:r>
            <a:endParaRPr sz="4200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235"/>
          <p:cNvSpPr>
            <a:spLocks noGrp="1"/>
          </p:cNvSpPr>
          <p:nvPr/>
        </p:nvSpPr>
        <p:spPr>
          <a:xfrm>
            <a:off x="742950" y="2952750"/>
            <a:ext cx="6858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475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236"/>
          <p:cNvSpPr>
            <a:spLocks noGrp="1"/>
          </p:cNvSpPr>
          <p:nvPr/>
        </p:nvSpPr>
        <p:spPr>
          <a:xfrm>
            <a:off x="1666875" y="2943225"/>
            <a:ext cx="96012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unhappiness：找出基础词和词缀。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237"/>
          <p:cNvSpPr>
            <a:spLocks noGrp="1"/>
          </p:cNvSpPr>
          <p:nvPr/>
        </p:nvSpPr>
        <p:spPr>
          <a:xfrm>
            <a:off x="742950" y="3943350"/>
            <a:ext cx="6858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475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-238"/>
          <p:cNvSpPr>
            <a:spLocks noGrp="1"/>
          </p:cNvSpPr>
          <p:nvPr/>
        </p:nvSpPr>
        <p:spPr>
          <a:xfrm>
            <a:off x="1666875" y="3933825"/>
            <a:ext cx="96012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unbelievable：找出基础词和词缀。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-239"/>
          <p:cNvSpPr>
            <a:spLocks noGrp="1"/>
          </p:cNvSpPr>
          <p:nvPr/>
        </p:nvSpPr>
        <p:spPr>
          <a:xfrm>
            <a:off x="742950" y="4933950"/>
            <a:ext cx="6858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475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-240"/>
          <p:cNvSpPr>
            <a:spLocks noGrp="1"/>
          </p:cNvSpPr>
          <p:nvPr/>
        </p:nvSpPr>
        <p:spPr>
          <a:xfrm>
            <a:off x="1666875" y="4924425"/>
            <a:ext cx="96012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各指出一个拼写变化，
再造一个简短句子。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text-241"/>
          <p:cNvSpPr>
            <a:spLocks noGrp="1"/>
          </p:cNvSpPr>
          <p:nvPr/>
        </p:nvSpPr>
        <p:spPr>
          <a:xfrm>
            <a:off x="685800" y="514350"/>
            <a:ext cx="107442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综合练习讲解</a:t>
            </a:r>
            <a:endParaRPr sz="3300" b="1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242"/>
          <p:cNvSpPr>
            <a:spLocks noGrp="1"/>
          </p:cNvSpPr>
          <p:nvPr/>
        </p:nvSpPr>
        <p:spPr>
          <a:xfrm>
            <a:off x="10477500" y="6229350"/>
            <a:ext cx="1066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  /  19</a:t>
            </a:r>
            <a:endParaRPr sz="1425" b="0">
              <a:solidFill>
                <a:srgbClr val="68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243"/>
          <p:cNvSpPr>
            <a:spLocks noGrp="1"/>
          </p:cNvSpPr>
          <p:nvPr/>
        </p:nvSpPr>
        <p:spPr>
          <a:xfrm>
            <a:off x="723900" y="1638300"/>
            <a:ext cx="1066800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420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20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拆分必须有依据</a:t>
            </a:r>
            <a:endParaRPr sz="4200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244"/>
          <p:cNvSpPr>
            <a:spLocks noGrp="1"/>
          </p:cNvSpPr>
          <p:nvPr/>
        </p:nvSpPr>
        <p:spPr>
          <a:xfrm>
            <a:off x="742950" y="2952750"/>
            <a:ext cx="6858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475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245"/>
          <p:cNvSpPr>
            <a:spLocks noGrp="1"/>
          </p:cNvSpPr>
          <p:nvPr/>
        </p:nvSpPr>
        <p:spPr>
          <a:xfrm>
            <a:off x="1666875" y="2943225"/>
            <a:ext cx="96012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unhappiness：un- + happy + -ness，y 改 i。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246"/>
          <p:cNvSpPr>
            <a:spLocks noGrp="1"/>
          </p:cNvSpPr>
          <p:nvPr/>
        </p:nvSpPr>
        <p:spPr>
          <a:xfrm>
            <a:off x="742950" y="3943350"/>
            <a:ext cx="6858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475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-247"/>
          <p:cNvSpPr>
            <a:spLocks noGrp="1"/>
          </p:cNvSpPr>
          <p:nvPr/>
        </p:nvSpPr>
        <p:spPr>
          <a:xfrm>
            <a:off x="1666875" y="3933825"/>
            <a:ext cx="96012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unbelievable：un- + believe + -able，去 e。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-248"/>
          <p:cNvSpPr>
            <a:spLocks noGrp="1"/>
          </p:cNvSpPr>
          <p:nvPr/>
        </p:nvSpPr>
        <p:spPr>
          <a:xfrm>
            <a:off x="742950" y="4933950"/>
            <a:ext cx="6858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475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-249"/>
          <p:cNvSpPr>
            <a:spLocks noGrp="1"/>
          </p:cNvSpPr>
          <p:nvPr/>
        </p:nvSpPr>
        <p:spPr>
          <a:xfrm>
            <a:off x="1666875" y="4924425"/>
            <a:ext cx="96012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She could not hide her unhappiness.
The story is unbelievable.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15E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text-250"/>
          <p:cNvSpPr>
            <a:spLocks noGrp="1"/>
          </p:cNvSpPr>
          <p:nvPr/>
        </p:nvSpPr>
        <p:spPr>
          <a:xfrm>
            <a:off x="685800" y="514350"/>
            <a:ext cx="107442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课后任务与下一课</a:t>
            </a:r>
            <a:endParaRPr sz="3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251"/>
          <p:cNvSpPr>
            <a:spLocks noGrp="1"/>
          </p:cNvSpPr>
          <p:nvPr/>
        </p:nvSpPr>
        <p:spPr>
          <a:xfrm>
            <a:off x="10477500" y="6229350"/>
            <a:ext cx="1066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  /  20</a:t>
            </a:r>
            <a:endParaRPr sz="1425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252"/>
          <p:cNvSpPr>
            <a:spLocks noGrp="1"/>
          </p:cNvSpPr>
          <p:nvPr/>
        </p:nvSpPr>
        <p:spPr>
          <a:xfrm>
            <a:off x="723900" y="1752600"/>
            <a:ext cx="104775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4050" b="1">
                <a:solidFill>
                  <a:srgbClr val="F5D7A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050" b="1">
                <a:solidFill>
                  <a:srgbClr val="F5D7A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每条规则配一组对照</a:t>
            </a:r>
            <a:endParaRPr sz="4050" b="1">
              <a:solidFill>
                <a:srgbClr val="F5D7A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253"/>
          <p:cNvSpPr>
            <a:spLocks noGrp="1"/>
          </p:cNvSpPr>
          <p:nvPr/>
        </p:nvSpPr>
        <p:spPr>
          <a:xfrm>
            <a:off x="742950" y="3000375"/>
            <a:ext cx="104775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整理 studied</a:t>
            </a:r>
            <a:r>
              <a:rPr sz="22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/studying、hoping/</a:t>
            </a:r>
            <a:r>
              <a:rPr sz="22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hopping。</a:t>
            </a:r>
            <a:endParaRPr sz="225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254"/>
          <p:cNvSpPr>
            <a:spLocks noGrp="1"/>
          </p:cNvSpPr>
          <p:nvPr/>
        </p:nvSpPr>
        <p:spPr>
          <a:xfrm>
            <a:off x="742950" y="3962400"/>
            <a:ext cx="104775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 begin/open 写出 -ing 形式并读准。</a:t>
            </a:r>
            <a:endParaRPr sz="225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255"/>
          <p:cNvSpPr>
            <a:spLocks noGrp="1"/>
          </p:cNvSpPr>
          <p:nvPr/>
        </p:nvSpPr>
        <p:spPr>
          <a:xfrm>
            <a:off x="742950" y="4924425"/>
            <a:ext cx="104775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下一课：声音与字形怎样辅助记忆。</a:t>
            </a:r>
            <a:endParaRPr sz="225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2063</Words>
  <Application>WPS 演示</Application>
  <PresentationFormat>Converted Presentation</PresentationFormat>
  <Paragraphs>267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7" baseType="lpstr">
      <vt:lpstr>Arial</vt:lpstr>
      <vt:lpstr>宋体</vt:lpstr>
      <vt:lpstr>Wingdings</vt:lpstr>
      <vt:lpstr>微软雅黑</vt:lpstr>
      <vt:lpstr>Arial Unicode MS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Threadman</cp:lastModifiedBy>
  <cp:revision>2</cp:revision>
  <dcterms:created xsi:type="dcterms:W3CDTF">2026-09-19T12:29:09Z</dcterms:created>
  <dcterms:modified xsi:type="dcterms:W3CDTF">2026-09-19T12:29:21Z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B981CA1A2C37492C96251A6ABABD4A7A</vt:lpwstr>
  </property>
  <property fmtid="{D5CDD505-2E9C-101B-9397-08002B2CF9AE}" pid="3" name="KSOProductBuildVer">
    <vt:lpwstr>2052-11.8.2.12265</vt:lpwstr>
  </property>
</Properties>
</file>