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建议两课时，每课40–45分钟。第1课到第12页，第2课从第13页开始。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  <a:p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复习答案：横线提示字母音，点在begin中提示/ɪ/，圈提示/ə/。重音位置须结合词典。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先让学生圈出ai和ay，听写时保留拼写区别。不要把音同理解成字母可以随意互换。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补充I can see the sea.句子中两词同音不同义，体现音形意三个方面的必要性。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把三种ea读法分开练。不要仅根据第一个字母或第二个字母预测所有元音组合。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原文oo(d)/oo(k)不是无例外定律，food与good已能反证。本页不发明新的IPS短oo符号，用IPA与例词帮助区分。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long-slant/重音符号在该项目中用于区分变音。此页只学三个词，拓展词soul、house可放课后查词。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项目标记不是IPA。police英美均有/iː/，不采纳原文“美语i不发ĩ音”的绝对说法。来源：https://www.oxfordlearnersdictionaries.com/us/definition/english/police_2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术语可向教师说明digraph与consonant blend。练习ship、stop、school，学生不需死记术语。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g在e/i/y前并不总为/dʒ/。不要根据词性判断所有th，也不要笼统说所有元音前x都读/gz/。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教师示范舌尖轻触齿间，学生轻触喉部感受振动。此处比较发音动作，不将词性当作绝对判定规则。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读音/nəʊ laɪt læm/。学习时标记静音字母，正式拼写不可删去。双线体示例另见教师使用说明。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不用元音长短自动推断所有重音。原文“重音指元音”的简化在课堂中改为音节重音。来源：https://africa.teachingenglish.org.uk/classroom/pronunciation/word-stress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大写拼音节仅作课堂重音提示，不是正式英文拼写。不要推广为所有双音节名词前重、动词后重。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可让学生轻拍、重拍、轻拍。来源：https://www.teachingenglish.org.uk/professional-development/teachers/teaching-knowledge-database/q-s/schwa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英式词典常以(r)提示后接元音时连读r。美式通常读出r；year不可归为bird类/ɜː/。来源：https://dictionary.cambridge.org/us/pronunciation/english/year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按前面的声音分类，不只看末尾字母。特殊不规则形式另记，本表用于常见规则词尾。</a:t>
            </a:r>
          </a:p>
          <a:p>
            <a:r>
              <a:t>教学核对来源：https://iastate.pressbooks.pub/teachingpronunciation/chapter/chapter-5-ed-and-s-endings/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/t/、/d/优先判断，其他清辅音读/t/，其他浊音及元音读/d/。counted的词干最后是/t/，原文将它放在/d/例词中，应调整。</a:t>
            </a:r>
          </a:p>
          <a:p>
            <a:r>
              <a:t>教学核对来源：https://iastate.pressbooks.pub/teachingpronunciation/chapter/chapter-5-ed-and-s-endings/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不要把所有-sion都读/ʒən/，如discussion为/ʃən/。question有/ tʃ /等变化，另查词典。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学生3分钟独立完成，2分钟互读。教师可先给出词干，学生根据最后一个音判断后缀。</a:t>
            </a:r>
          </a:p>
          <a:p>
            <a:r>
              <a:t>教学核对来源：https://iastate.pressbooks.pub/teachingpronunciation/chapter/chapter-5-ed-and-s-endings/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解释help结尾/p/清辅音；play结尾/eɪ/元音；want结尾/t/。每项应说出理由，而非只报答案。</a:t>
            </a:r>
          </a:p>
          <a:p>
            <a:r>
              <a:t>教学核对来源：https://iastate.pressbooks.pub/teachingpronunciation/chapter/chapter-5-ed-and-s-endings/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附加查词任务：police、year、record，确认口音与重音。优先复习真正读错的词。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29"/>
          <p:cNvSpPr>
            <a:spLocks noGrp="1"/>
          </p:cNvSpPr>
          <p:nvPr/>
        </p:nvSpPr>
        <p:spPr>
          <a:xfrm>
            <a:off x="685800" y="66675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音形意统一记忆法   /   第 03 课</a:t>
            </a:r>
            <a:endParaRPr sz="1800" b="0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30"/>
          <p:cNvSpPr>
            <a:spLocks noGrp="1"/>
          </p:cNvSpPr>
          <p:nvPr/>
        </p:nvSpPr>
        <p:spPr>
          <a:xfrm>
            <a:off x="685800" y="1952625"/>
            <a:ext cx="70485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组合、重音
与弱读</a:t>
            </a:r>
            <a:endParaRPr sz="57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31"/>
          <p:cNvSpPr>
            <a:spLocks noGrp="1"/>
          </p:cNvSpPr>
          <p:nvPr/>
        </p:nvSpPr>
        <p:spPr>
          <a:xfrm>
            <a:off x="723900" y="48577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进阶课 · 将拼读线索连成完整读音</a:t>
            </a:r>
            <a:endParaRPr sz="2100" b="0">
              <a:solidFill>
                <a:srgbClr val="315E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3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本课目标与复习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3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34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[nāme]   [bėgin]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35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36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复习横线、点和圈。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37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38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识别常见字母组合，比较一组多音。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39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40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听准重音，读出常见词尾。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4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多个字母可以表示同一个音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4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   day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4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ai：rain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/reɪn/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4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ay：day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/deɪ/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4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IPS：[rāin]、[dāy]。
都含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，拼写仍各不相同。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4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ee 与 ea 的常见读音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49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    sea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50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/siː/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：看见。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51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/siː/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：海。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52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IPS：[sēe]、[sēa]。
相同读音需要靠语境选择拼写。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5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同一组合 ea 的不同读音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5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55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meat   head   great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56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meat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/miːt/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IPS：[mēat]。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57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/hed/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IPS：[hèad]。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58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great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/ɡreɪt/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IPS：[greāt]。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5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oo 也有不同读法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6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61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food   good   blood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62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food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/fuːd/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IPS：[food]。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63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/ɡʊd/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原文用短读说明区分。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64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blood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/blʌd/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IPS：[blôod]。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6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 与 ou 的读音线索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6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67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   cow    group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68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/sləʊ/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：[slōw]。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69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cow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/kaʊ/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：[còw]。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70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/ɡruːp/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：[groūp]。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7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三种补充标记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7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7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[ĩ]    [òu]    [ô]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7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波浪：police 中 i，提示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/iː/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7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长捺：loud 中 ou，提示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/aʊ/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7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尖角：love 中 o，提示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/ʌ/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7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两类辅音组合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7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09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79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         st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80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sh：两个字母表示一个音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ship。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81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st：保留两个辅音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stop。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82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 stop 时，s 与 t 之间不加元音。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8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与 g：常见模式和例外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8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85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city   cake   get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86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c：city 中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，cake 中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/k/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87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g：giant 中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/dʒ/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，game 中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/ɡ/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88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get、give、girl 中 g 仍读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/ɡ/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8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 的两个常见读音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9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9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think      this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9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think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/θɪŋk/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/θ/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，声带不振动。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9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this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/ðɪs/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/ð/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，声带振动。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9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IPS：[think]、[ṫhis]。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9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不发音字母仍要保留拼写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9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9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    light    lamb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9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know：k 不发音。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9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light：gh 不发音。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0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lamb：b 不发音。
原文使用双线体突出这些字母。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0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重音是整个音节的突出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0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0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be-GIN    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a-BOUT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0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/bɪˈɡɪn/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，后一个音节重读。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0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about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/əˈbaʊt/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，后一个音节重读。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0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重读音节通常更突出，
其元音是听辨的重要线索。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0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相同拼写，不同重音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0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09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record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10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名词：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/ˈrek.ɔːd/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a world record 世界纪录。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11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动词：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/rɪˈkɔːd/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record a song 录一首歌。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12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先看用法和语境，再确认读音。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1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弱读不是机械交替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1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15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banana  </a:t>
            </a: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/bəˈnɑː.nə/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16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中间音节重读。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17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开头和结尾的 a 都读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/ə/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18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各词重音位置需要学习，
不能只用“重弱交替”猜。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1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字母 r 相关读音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2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21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   bird   year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22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英式 car：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/kɑː/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23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英式 bird：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/bɜːd/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24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英式 year：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/jɪə/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这三个元音不能读成同一个音。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-22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-s / -es 的读音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2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762000" y="1762125"/>
          <a:ext cx="10620375" cy="2895600"/>
        </p:xfrm>
        <a:graphic>
          <a:graphicData uri="http://schemas.openxmlformats.org/drawingml/2006/table">
            <a:tbl>
              <a:tblPr/>
              <a:tblGrid>
                <a:gridCol w="4000500"/>
                <a:gridCol w="2381250"/>
                <a:gridCol w="4238625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词尾前的音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读音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/s z ʃ ʒ tʃ dʒ/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/ɪz/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washes, watches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其他清辅音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/s/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books, cats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其他浊辅音和元音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/z/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bags, days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-22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-ed 的读音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2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762000" y="1762125"/>
          <a:ext cx="10620375" cy="2895600"/>
        </p:xfrm>
        <a:graphic>
          <a:graphicData uri="http://schemas.openxmlformats.org/drawingml/2006/table">
            <a:tbl>
              <a:tblPr/>
              <a:tblGrid>
                <a:gridCol w="4000500"/>
                <a:gridCol w="2381250"/>
                <a:gridCol w="4238625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词尾前的音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读音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/t/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或 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/d/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/ɪd/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wanted, needed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其他清辅音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/t/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helped, washed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其他浊辅音和元音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/d/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called, played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2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常见长词词尾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3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19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3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nation    vision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3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nation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/ˈneɪ.ʃən/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：-tion 常见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/ʃən/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3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vision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/ˈvɪʒ.ən/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：这里 -sion 读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/ʒən/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3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先认整个词尾，再接回完整单词。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23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综合练习：分类并朗读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3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20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37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books   bags   washes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38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39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把三个词尾分别归入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/z/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/ɪz/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40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41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 helped、played、wanted
归入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/ɪd/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42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43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指出 banana 的重读音节。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24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综合练习答案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4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21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46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声音决定词尾读法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47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48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books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；bags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/z/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；washes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/ɪz/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49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50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helped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；played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；wanted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/ɪd/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51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52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banana 中间音节重读，
两侧是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/ə/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E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5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复习任务与下一课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5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/  22</a:t>
            </a:r>
            <a:endParaRPr sz="14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55"/>
          <p:cNvSpPr>
            <a:spLocks noGrp="1"/>
          </p:cNvSpPr>
          <p:nvPr/>
        </p:nvSpPr>
        <p:spPr>
          <a:xfrm>
            <a:off x="723900" y="17526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把读音线索写回单词</a:t>
            </a:r>
            <a:endParaRPr sz="4050" b="1">
              <a:solidFill>
                <a:srgbClr val="F5D7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56"/>
          <p:cNvSpPr>
            <a:spLocks noGrp="1"/>
          </p:cNvSpPr>
          <p:nvPr/>
        </p:nvSpPr>
        <p:spPr>
          <a:xfrm>
            <a:off x="742950" y="300037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 ea、oo 各三种读音的例词。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57"/>
          <p:cNvSpPr>
            <a:spLocks noGrp="1"/>
          </p:cNvSpPr>
          <p:nvPr/>
        </p:nvSpPr>
        <p:spPr>
          <a:xfrm>
            <a:off x="742950" y="39624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任选 6 个带 -s 或 -ed 的词练习分类。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58"/>
          <p:cNvSpPr>
            <a:spLocks noGrp="1"/>
          </p:cNvSpPr>
          <p:nvPr/>
        </p:nvSpPr>
        <p:spPr>
          <a:xfrm>
            <a:off x="742950" y="492442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下一课：通过构词部分理解词义。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WPS 演示</Application>
  <PresentationFormat>Converted Presentation</PresentationFormat>
  <Paragraphs>309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1</cp:revision>
  <dcterms:created xsi:type="dcterms:W3CDTF">2026-09-19T12:26:39Z</dcterms:created>
  <dcterms:modified xsi:type="dcterms:W3CDTF">2026-09-19T12:26:39Z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538B9DFA79454BC99C3FCF66F9B39CE3</vt:lpwstr>
  </property>
  <property fmtid="{D5CDD505-2E9C-101B-9397-08002B2CF9AE}" pid="3" name="KSOProductBuildVer">
    <vt:lpwstr>2052-11.8.2.12265</vt:lpwstr>
  </property>
</Properties>
</file>