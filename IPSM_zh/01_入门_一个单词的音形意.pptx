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建议40–45分钟。准备纸笔，教师示范读音或播放词典录音。课程适合认识英文字母的初学者。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  <a:p>
            <a:r>
              <a:t>封面背景：OpenAI内置图像生成工具生成的教学插画。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开场请学生各写一个自己总记错的单词。课末回到该词，检查能否换一种方式学习。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先展示单词，邀请不同学生分别完成朗读、遮挡拼写、语境解释。答案：/ʃɪp/，s-h-i-p，船。暂不考查IPA符号名称。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让学生读、写并想象具体的船。汉语释义是理解起点，还要注意实际使用情景。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以自然语速读这两个词，让学生指出听到的是哪一个。元音区别包括音质，不能只说一长一短。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让学生分别拼写cat的字母名称和读出cat。强调字母名不能直接逐个拼成词音。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用三个手指对应三个音素，再拿四个字母对照。初学阶段只需理解一个音可以由多个字母表示。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读 /ˈtiː.tʃə/，轻拍两下。teach意为教，-er在此构成人的名称。不要将所有音节都解释成有意义的词根。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名称来自原文02。IPM联想作为辅助方法，不能保证从声音推导词义。第06课详细讨论适用边界。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/ /内为IPA，[ ]内为项目IPS。不要宣称IPA妨碍学习或IPS与IPA在所有情况下严格一一对应。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教师示范，不要求学生凭新词拼写独立预测读音。词尾e在本词中不独立发音。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name可有其他用法，此处只学最常见名词义。让每个学生说句子，再默写，避免只背中文对照。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课件分步呈现靠逐页推进，无需复杂动画。教师可以用白纸挡住例词，让学生完成听写。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给学生2分钟。已提供读音，考查联系而非未教的音标知识。参考答案在下一页。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评估三个维度：读音能辨、拼写准确、句义合适。不能仅凭写出中文判定已经掌握。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可让学生在纸上分四行记录。IPS标记是学习时的注释，正式英文写作仍写普通拼写name。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答案：a的字母名/eɪ/，在cat中为/æ/；sh对应/ʃ/一个音；My name is…，n-a-m-e。三项各记1分，未完成项下一课复习。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建议练习量，可按学习者水平调整。记录错误来自读音、拼写还是语境，再有针对性复习。</a:t>
            </a:r>
          </a:p>
          <a:p/>
          <a:p>
            <a:r>
              <a:t>授课提示：先让学生观察或尝试，再讨论本页例词。明确指出读音、拼写与意义的联系。</a:t>
            </a:r>
          </a:p>
          <a:p/>
          <a:p>
            <a:r>
              <a:t>原始资料：</a:t>
            </a:r>
          </a:p>
          <a:p>
            <a:r>
              <a:t>documents_zh/02-general.md</a:t>
            </a:r>
          </a:p>
          <a:p>
            <a:r>
              <a:t>documents_zh/03-ipa-and-ips.md</a:t>
            </a:r>
          </a:p>
          <a:p>
            <a:r>
              <a:t>documents_zh/08-letters.md</a:t>
            </a:r>
          </a:p>
          <a:p>
            <a:r>
              <a:t>documents_zh/09-easy-pronunciation.md</a:t>
            </a:r>
          </a:p>
          <a:p/>
          <a:p>
            <a:r>
              <a:t>口音约定：除明确标注外，IPA采用英式词典常见读音。IPS为本项目助记标注。例句及练习为教学改编。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"/>
          <p:cNvSpPr>
            <a:spLocks noGrp="1"/>
          </p:cNvSpPr>
          <p:nvPr/>
        </p:nvSpPr>
        <p:spPr>
          <a:xfrm>
            <a:off x="685800" y="666750"/>
            <a:ext cx="752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音形意统一记忆法   /   第 01 课</a:t>
            </a:r>
            <a:endParaRPr sz="1800" b="0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685800" y="1952625"/>
            <a:ext cx="7048500" cy="2333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7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一个单词的
音、形、意</a:t>
            </a:r>
            <a:endParaRPr sz="57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23900" y="4857750"/>
            <a:ext cx="65722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315E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入门课 · 建立完整的单词记忆</a:t>
            </a:r>
            <a:endParaRPr sz="2100" b="0">
              <a:solidFill>
                <a:srgbClr val="315E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本课学习目标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02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学完后，你能做什么？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8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说出一个词的读音、拼写和语境意义。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9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0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区分字母名、字母音、音节和词素。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1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2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用一张学习记录串起一个熟悉单词。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先试一试：你认识这个词吗？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03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5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ship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6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你会读它吗？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7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你能不看屏幕拼出它吗？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8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ship is on the sea.
这里的 ship 是什么？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同一个词的三个侧面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04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1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ship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2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音：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/ʃɪp/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听到和说出的声音。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3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形：s h i p
按顺序写出的字母。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24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意：船
在句子中指海上的船。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25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只记住一面，会遗漏什么？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6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05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7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ship ≠ sheep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8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读音区别：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/ʃɪp/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/ʃiːp/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9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拼写区别：i 与 ee。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0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意义区别：船与绵羊。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字母名与字母音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06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3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</a:t>
            </a: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/eɪ/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4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字母名：字母的名称。
A 叫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/eɪ/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5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字母音：字母在具体词中的读音。
cat 中 a 是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/æ/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6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一个字母可有不同读音。
name 中 a 读 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/eɪ/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37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字母数量不等于音素数量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8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07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39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ship   </a:t>
            </a: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/ʃɪp/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40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个字母：s、h、i、p。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1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个音素：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/ʃ/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/ɪ/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/p/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42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 两个字母共同表示一个音。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43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音节与词素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44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08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45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46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音节：朗读时的节拍。
tea</a:t>
            </a:r>
            <a:r>
              <a:rPr sz="2175" b="0">
                <a:solidFill>
                  <a:srgbClr val="243D35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·</a:t>
            </a: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cher 有两个音节。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7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词素：与意义或语法功能有关的单位。
teach-er。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48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两种切分服务不同目的。
音节帮助读，词素帮助理解构词。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4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三条学习路径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09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51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IPSM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2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3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IPS 音形统一：在拼写中提示读音。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4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55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ISM 形意统一：观察有意义的构词部分。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56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57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IPM 音意统一：借声音和情景帮助记忆。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8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IPA 与 IPS 的用途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59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10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0"/>
          <p:cNvSpPr>
            <a:spLocks noGrp="1"/>
          </p:cNvSpPr>
          <p:nvPr/>
        </p:nvSpPr>
        <p:spPr>
          <a:xfrm>
            <a:off x="723900" y="1619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/neɪm/</a:t>
            </a:r>
            <a:r>
              <a:rPr sz="48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[nāme]</a:t>
            </a:r>
            <a:endParaRPr sz="48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1"/>
          <p:cNvSpPr>
            <a:spLocks noGrp="1"/>
          </p:cNvSpPr>
          <p:nvPr/>
        </p:nvSpPr>
        <p:spPr>
          <a:xfrm>
            <a:off x="72390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IPA：直接记录发音。
便于查词典、比较口音。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2"/>
          <p:cNvSpPr>
            <a:spLocks noGrp="1"/>
          </p:cNvSpPr>
          <p:nvPr/>
        </p:nvSpPr>
        <p:spPr>
          <a:xfrm>
            <a:off x="4429125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IPS：保留单词拼写并添加提示。
帮助观察拼写和读音。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3"/>
          <p:cNvSpPr>
            <a:spLocks noGrp="1"/>
          </p:cNvSpPr>
          <p:nvPr/>
        </p:nvSpPr>
        <p:spPr>
          <a:xfrm>
            <a:off x="8134350" y="3105150"/>
            <a:ext cx="3267075" cy="251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两者可以配合使用。
先听准，再看标记。</a:t>
            </a:r>
            <a:endParaRPr sz="2175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64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第一步：确认读音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5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11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66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  </a:t>
            </a: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/neɪm/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7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先听或跟读，确认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/eɪ/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8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 n、a、m、e 的顺序。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69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a 上加横线：[nāme]。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70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第二步：把词放入情景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1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12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2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 name is Lin.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3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在句子里理解 name：名字。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74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换成自己的名字说一遍。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75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合上资料，写出 name。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76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第三步：回忆完整单词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7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13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78"/>
          <p:cNvSpPr>
            <a:spLocks noGrp="1"/>
          </p:cNvSpPr>
          <p:nvPr/>
        </p:nvSpPr>
        <p:spPr>
          <a:xfrm>
            <a:off x="685800" y="2209800"/>
            <a:ext cx="4667250" cy="2428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看词
听词
用词</a:t>
            </a:r>
            <a:endParaRPr sz="52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79"/>
          <p:cNvSpPr>
            <a:spLocks noGrp="1"/>
          </p:cNvSpPr>
          <p:nvPr/>
        </p:nvSpPr>
        <p:spPr>
          <a:xfrm>
            <a:off x="5905500" y="186690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 name，能读出并理解。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80"/>
          <p:cNvSpPr>
            <a:spLocks noGrp="1"/>
          </p:cNvSpPr>
          <p:nvPr/>
        </p:nvSpPr>
        <p:spPr>
          <a:xfrm>
            <a:off x="5905500" y="3171825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听到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/neɪm/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，能写出 name。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81"/>
          <p:cNvSpPr>
            <a:spLocks noGrp="1"/>
          </p:cNvSpPr>
          <p:nvPr/>
        </p:nvSpPr>
        <p:spPr>
          <a:xfrm>
            <a:off x="5905500" y="4476750"/>
            <a:ext cx="56197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介绍自己时，能主动用出它。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82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课堂练习：补全三个侧面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83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14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84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rain    teacher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85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86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rain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/reɪn/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：The rain is heavy.
写出拼写，说明句中意义。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87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88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 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/ˈtiː.tʃə/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：Our teacher is kind.
圈出你认识的构词部分。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89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90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两词任选一个，遮住屏幕后朗读并拼写。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91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练习讲解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92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15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93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rain   </a:t>
            </a: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/reɪn/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94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95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rain：r-a-i-n，句中是“雨”。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96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97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teacher：teach + -er，句中是“老师”。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98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99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rain 可以整体记忆。
不必强行拆成前缀、词根和后缀。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100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一张单词学习记录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01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16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02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</a:t>
            </a:r>
            <a:endParaRPr sz="315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03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04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读音：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/neɪm/</a:t>
            </a: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；IPS提示：[nāme]。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05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06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拼写观察：a…e 这一组关系。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07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08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语境：My name is Lin.
自测：遮住后读、写、说。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109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离堂检查</a:t>
            </a:r>
            <a:endParaRPr sz="3300" b="1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10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17</a:t>
            </a:r>
            <a:endParaRPr sz="1425" b="0">
              <a:solidFill>
                <a:srgbClr val="68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11"/>
          <p:cNvSpPr>
            <a:spLocks noGrp="1"/>
          </p:cNvSpPr>
          <p:nvPr/>
        </p:nvSpPr>
        <p:spPr>
          <a:xfrm>
            <a:off x="723900" y="163830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今天能独立完成吗？</a:t>
            </a:r>
            <a:endParaRPr sz="4200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12"/>
          <p:cNvSpPr>
            <a:spLocks noGrp="1"/>
          </p:cNvSpPr>
          <p:nvPr/>
        </p:nvSpPr>
        <p:spPr>
          <a:xfrm>
            <a:off x="742950" y="29527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13"/>
          <p:cNvSpPr>
            <a:spLocks noGrp="1"/>
          </p:cNvSpPr>
          <p:nvPr/>
        </p:nvSpPr>
        <p:spPr>
          <a:xfrm>
            <a:off x="1666875" y="29432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cat 说明字母名和字母音不同。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14"/>
          <p:cNvSpPr>
            <a:spLocks noGrp="1"/>
          </p:cNvSpPr>
          <p:nvPr/>
        </p:nvSpPr>
        <p:spPr>
          <a:xfrm>
            <a:off x="742950" y="39433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15"/>
          <p:cNvSpPr>
            <a:spLocks noGrp="1"/>
          </p:cNvSpPr>
          <p:nvPr/>
        </p:nvSpPr>
        <p:spPr>
          <a:xfrm>
            <a:off x="1666875" y="39338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说出 ship 中 sh 对应几个音。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16"/>
          <p:cNvSpPr>
            <a:spLocks noGrp="1"/>
          </p:cNvSpPr>
          <p:nvPr/>
        </p:nvSpPr>
        <p:spPr>
          <a:xfrm>
            <a:off x="742950" y="4933950"/>
            <a:ext cx="685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AA51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AA51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17"/>
          <p:cNvSpPr>
            <a:spLocks noGrp="1"/>
          </p:cNvSpPr>
          <p:nvPr/>
        </p:nvSpPr>
        <p:spPr>
          <a:xfrm>
            <a:off x="1666875" y="4924425"/>
            <a:ext cx="96012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name 造句，再闭眼口头拼写。</a:t>
            </a:r>
            <a:endParaRPr sz="2250" b="0">
              <a:solidFill>
                <a:srgbClr val="243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5E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18"/>
          <p:cNvSpPr>
            <a:spLocks noGrp="1"/>
          </p:cNvSpPr>
          <p:nvPr/>
        </p:nvSpPr>
        <p:spPr>
          <a:xfrm>
            <a:off x="685800" y="514350"/>
            <a:ext cx="10744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243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课后任务与下一课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19"/>
          <p:cNvSpPr>
            <a:spLocks noGrp="1"/>
          </p:cNvSpPr>
          <p:nvPr/>
        </p:nvSpPr>
        <p:spPr>
          <a:xfrm>
            <a:off x="10477500" y="6229350"/>
            <a:ext cx="1066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8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/  18</a:t>
            </a:r>
            <a:endParaRPr sz="14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120"/>
          <p:cNvSpPr>
            <a:spLocks noGrp="1"/>
          </p:cNvSpPr>
          <p:nvPr/>
        </p:nvSpPr>
        <p:spPr>
          <a:xfrm>
            <a:off x="723900" y="1752600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F5D7A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每天精学 3 个熟悉词</a:t>
            </a:r>
            <a:endParaRPr sz="4050" b="1">
              <a:solidFill>
                <a:srgbClr val="F5D7A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21"/>
          <p:cNvSpPr>
            <a:spLocks noGrp="1"/>
          </p:cNvSpPr>
          <p:nvPr/>
        </p:nvSpPr>
        <p:spPr>
          <a:xfrm>
            <a:off x="742950" y="300037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 name、ship、rain，完成学习记录。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22"/>
          <p:cNvSpPr>
            <a:spLocks noGrp="1"/>
          </p:cNvSpPr>
          <p:nvPr/>
        </p:nvSpPr>
        <p:spPr>
          <a:xfrm>
            <a:off x="742950" y="3962400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第二天先不看答案，尝试读、写和用。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23"/>
          <p:cNvSpPr>
            <a:spLocks noGrp="1"/>
          </p:cNvSpPr>
          <p:nvPr/>
        </p:nvSpPr>
        <p:spPr>
          <a:xfrm>
            <a:off x="742950" y="4924425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下一课：用 IPS 观察元音与拼写。</a:t>
            </a:r>
            <a:endParaRPr sz="22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1574</Words>
  <Application>WPS 演示</Application>
  <PresentationFormat>Converted Presentation</PresentationFormat>
  <Paragraphs>246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Unicode MS</vt:lpstr>
      <vt:lpstr>Calibri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Threadman</cp:lastModifiedBy>
  <cp:revision>1</cp:revision>
  <dcterms:created xsi:type="dcterms:W3CDTF">2026-09-19T12:20:29Z</dcterms:created>
  <dcterms:modified xsi:type="dcterms:W3CDTF">2026-09-19T12:20:29Z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6CF73391662844A3B3BC01D9B504FF86</vt:lpwstr>
  </property>
  <property fmtid="{D5CDD505-2E9C-101B-9397-08002B2CF9AE}" pid="3" name="KSOProductBuildVer">
    <vt:lpwstr>2052-11.8.2.12265</vt:lpwstr>
  </property>
</Properties>
</file>