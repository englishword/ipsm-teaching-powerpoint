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建议40–45分钟。把原文音意统一与字母统一作为助记探索，清楚区分通用读音、构词证据和个人联想。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documents_zh/07-ipm-approach.md</a:t>
            </a:r>
          </a:p>
          <a:p>
            <a:r>
              <a:t>documents_zh/08-letters.md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  <a:p>
            <a:r>
              <a:t>封面背景：OpenAI内置图像生成工具生成的教学插画。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请学生先准确朗读要学的词。不能为了配合联想故意读成汉语谐音。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documents_zh/07-ipm-approach.md</a:t>
            </a:r>
          </a:p>
          <a:p>
            <a:r>
              <a:t>documents_zh/08-letters.md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“核心字母”是项目术语，不是所有单词都有固定一两个决定意义的字母。勿鼓励忽略其他字母的错误。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documents_zh/07-ipm-approach.md</a:t>
            </a:r>
          </a:p>
          <a:p>
            <a:r>
              <a:t>documents_zh/08-letters.md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重读音节和词根不总是重合。课堂中不要将“只抓核心就能认词”作为保证。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documents_zh/07-ipm-approach.md</a:t>
            </a:r>
          </a:p>
          <a:p>
            <a:r>
              <a:t>documents_zh/08-letters.md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教师推一个安全轻物体示范。可选桌面手势，不要求实际推动重物。slide的含义来自词典和句子，动作辅助记忆。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documents_zh/07-ipm-approach.md</a:t>
            </a:r>
          </a:p>
          <a:p>
            <a:r>
              <a:t>documents_zh/08-letters.md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slip用法很多，给出的义项服务本次联想。列出一组相近词不等于证明sl-有固定词义。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documents_zh/07-ipm-approach.md</a:t>
            </a:r>
          </a:p>
          <a:p>
            <a:r>
              <a:t>documents_zh/08-letters.md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这页必须与前页连用。请学生说出sleep的熟悉意义，主动发现联想并非词义公式。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documents_zh/07-ipm-approach.md</a:t>
            </a:r>
          </a:p>
          <a:p>
            <a:r>
              <a:t>documents_zh/08-letters.md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/ɡləʊ/，/ˈɡlɪt.ə/。词组gl-与光亮的联想为原文例词思路。此处不宣称全部gl-词都与光有关。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documents_zh/07-ipm-approach.md</a:t>
            </a:r>
          </a:p>
          <a:p>
            <a:r>
              <a:t>documents_zh/08-letters.md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请学生选出不能直接成立的推断并解释。答案第三项，glad通常为高兴的。第一、二项是允许的个人记忆联想。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documents_zh/07-ipm-approach.md</a:t>
            </a:r>
          </a:p>
          <a:p>
            <a:r>
              <a:t>documents_zh/08-letters.md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引导学生改写第三项：我可以用高兴时眼睛发亮的画面记glad，但这只是我的助记故事。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documents_zh/07-ipm-approach.md</a:t>
            </a:r>
          </a:p>
          <a:p>
            <a:r>
              <a:t>documents_zh/08-letters.md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个人视觉记忆例子。字母外形不是wave词源的证据。原文谈字母形意时也提示不作为一般规律。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documents_zh/07-ipm-approach.md</a:t>
            </a:r>
          </a:p>
          <a:p>
            <a:r>
              <a:t>documents_zh/08-letters.md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请学生分别作波浪手势和挥手。动作相似可以帮助记忆，但实际意义由搭配区分。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documents_zh/07-ipm-approach.md</a:t>
            </a:r>
          </a:p>
          <a:p>
            <a:r>
              <a:t>documents_zh/08-letters.md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pat轻拍，bat球棒或蝙蝠。与原文辅音关系相联系，但强调相通不代表同音同义。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documents_zh/07-ipm-approach.md</a:t>
            </a:r>
          </a:p>
          <a:p>
            <a:r>
              <a:t>documents_zh/08-letters.md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原文“辅音静、元音动”的例子作为这一小组的观察，不能推广到全部语法变化。句型has begun可在有基础时补充。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documents_zh/07-ipm-approach.md</a:t>
            </a:r>
          </a:p>
          <a:p>
            <a:r>
              <a:t>documents_zh/08-letters.md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要求在记录上分开“查到的事实”和“自己的提示”。如果联想导致错读、错拼或误义，应更换。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documents_zh/07-ipm-approach.md</a:t>
            </a:r>
          </a:p>
          <a:p>
            <a:r>
              <a:t>documents_zh/08-letters.md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参考：wave可画波浪但wave goodbye不是一道浪；slide可以用滑动动作但不能由sl-推出sleep也表示滑动。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documents_zh/07-ipm-approach.md</a:t>
            </a:r>
          </a:p>
          <a:p>
            <a:r>
              <a:t>documents_zh/08-letters.md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三项每项1分。可接受多种联想，没有唯一故事答案。若联想不能帮助学生，应直接采用例句复习。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documents_zh/07-ipm-approach.md</a:t>
            </a:r>
          </a:p>
          <a:p>
            <a:r>
              <a:t>documents_zh/08-letters.md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不要求学习26个字母的全部象征意义。优先保留对该学生确有帮助的提示，避免强行把生词写成汉语谐音。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documents_zh/07-ipm-approach.md</a:t>
            </a:r>
          </a:p>
          <a:p>
            <a:r>
              <a:t>documents_zh/08-letters.md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-511"/>
          <p:cNvSpPr>
            <a:spLocks noGrp="1"/>
          </p:cNvSpPr>
          <p:nvPr/>
        </p:nvSpPr>
        <p:spPr>
          <a:xfrm>
            <a:off x="685800" y="666750"/>
            <a:ext cx="7524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音形意统一记忆法   /   第 06 课</a:t>
            </a:r>
            <a:endParaRPr sz="1800" b="0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512"/>
          <p:cNvSpPr>
            <a:spLocks noGrp="1"/>
          </p:cNvSpPr>
          <p:nvPr/>
        </p:nvSpPr>
        <p:spPr>
          <a:xfrm>
            <a:off x="685800" y="1952625"/>
            <a:ext cx="7048500" cy="2333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7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7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声音、字形
与记忆</a:t>
            </a:r>
            <a:endParaRPr sz="57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513"/>
          <p:cNvSpPr>
            <a:spLocks noGrp="1"/>
          </p:cNvSpPr>
          <p:nvPr/>
        </p:nvSpPr>
        <p:spPr>
          <a:xfrm>
            <a:off x="723900" y="4857750"/>
            <a:ext cx="65722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315E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315E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拓展课 · 让联想服务于准确使用</a:t>
            </a:r>
            <a:endParaRPr sz="2100" b="0">
              <a:solidFill>
                <a:srgbClr val="315E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ext-514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本课目标与先备知识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515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 /  02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516"/>
          <p:cNvSpPr>
            <a:spLocks noGrp="1"/>
          </p:cNvSpPr>
          <p:nvPr/>
        </p:nvSpPr>
        <p:spPr>
          <a:xfrm>
            <a:off x="723900" y="1638300"/>
            <a:ext cx="106680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会读、会拆，再做联想</a:t>
            </a:r>
            <a:endParaRPr sz="315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517"/>
          <p:cNvSpPr>
            <a:spLocks noGrp="1"/>
          </p:cNvSpPr>
          <p:nvPr/>
        </p:nvSpPr>
        <p:spPr>
          <a:xfrm>
            <a:off x="742950" y="29527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518"/>
          <p:cNvSpPr>
            <a:spLocks noGrp="1"/>
          </p:cNvSpPr>
          <p:nvPr/>
        </p:nvSpPr>
        <p:spPr>
          <a:xfrm>
            <a:off x="1666875" y="29432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复习：读音和构词可以提供哪些线索？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519"/>
          <p:cNvSpPr>
            <a:spLocks noGrp="1"/>
          </p:cNvSpPr>
          <p:nvPr/>
        </p:nvSpPr>
        <p:spPr>
          <a:xfrm>
            <a:off x="742950" y="39433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520"/>
          <p:cNvSpPr>
            <a:spLocks noGrp="1"/>
          </p:cNvSpPr>
          <p:nvPr/>
        </p:nvSpPr>
        <p:spPr>
          <a:xfrm>
            <a:off x="1666875" y="39338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尝试用声音、动作或字形形成记忆提示。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521"/>
          <p:cNvSpPr>
            <a:spLocks noGrp="1"/>
          </p:cNvSpPr>
          <p:nvPr/>
        </p:nvSpPr>
        <p:spPr>
          <a:xfrm>
            <a:off x="742950" y="49339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522"/>
          <p:cNvSpPr>
            <a:spLocks noGrp="1"/>
          </p:cNvSpPr>
          <p:nvPr/>
        </p:nvSpPr>
        <p:spPr>
          <a:xfrm>
            <a:off x="1666875" y="49244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能指出联想的边界，并回到语境核对。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523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原文的“核心字母”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524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 /  03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525"/>
          <p:cNvSpPr>
            <a:spLocks noGrp="1"/>
          </p:cNvSpPr>
          <p:nvPr/>
        </p:nvSpPr>
        <p:spPr>
          <a:xfrm>
            <a:off x="685800" y="2209800"/>
            <a:ext cx="4667250" cy="2428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help    </a:t>
            </a:r>
            <a:endParaRPr sz="525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helpful</a:t>
            </a:r>
            <a:endParaRPr sz="525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526"/>
          <p:cNvSpPr>
            <a:spLocks noGrp="1"/>
          </p:cNvSpPr>
          <p:nvPr/>
        </p:nvSpPr>
        <p:spPr>
          <a:xfrm>
            <a:off x="5905500" y="186690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原文建议关注词首或词根开头的字母。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527"/>
          <p:cNvSpPr>
            <a:spLocks noGrp="1"/>
          </p:cNvSpPr>
          <p:nvPr/>
        </p:nvSpPr>
        <p:spPr>
          <a:xfrm>
            <a:off x="5905500" y="3171825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在这一词族中，h 可作为回忆入口。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528"/>
          <p:cNvSpPr>
            <a:spLocks noGrp="1"/>
          </p:cNvSpPr>
          <p:nvPr/>
        </p:nvSpPr>
        <p:spPr>
          <a:xfrm>
            <a:off x="5905500" y="447675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完整读音、全部拼写和意义仍需掌握。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529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原文的“核心音节”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530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 /  04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531"/>
          <p:cNvSpPr>
            <a:spLocks noGrp="1"/>
          </p:cNvSpPr>
          <p:nvPr/>
        </p:nvSpPr>
        <p:spPr>
          <a:xfrm>
            <a:off x="685800" y="2209800"/>
            <a:ext cx="4667250" cy="2428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begin   </a:t>
            </a:r>
            <a:r>
              <a: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/bɪˈɡɪn/</a:t>
            </a:r>
            <a:endParaRPr sz="525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532"/>
          <p:cNvSpPr>
            <a:spLocks noGrp="1"/>
          </p:cNvSpPr>
          <p:nvPr/>
        </p:nvSpPr>
        <p:spPr>
          <a:xfrm>
            <a:off x="5905500" y="186690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可以把重读音节当作听辨重点。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533"/>
          <p:cNvSpPr>
            <a:spLocks noGrp="1"/>
          </p:cNvSpPr>
          <p:nvPr/>
        </p:nvSpPr>
        <p:spPr>
          <a:xfrm>
            <a:off x="5905500" y="3171825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先听清 -gin，再连回完整单词。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534"/>
          <p:cNvSpPr>
            <a:spLocks noGrp="1"/>
          </p:cNvSpPr>
          <p:nvPr/>
        </p:nvSpPr>
        <p:spPr>
          <a:xfrm>
            <a:off x="5905500" y="447675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词首的 be- 同样需要准确读写。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535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声音与动作联想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536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 /  05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537"/>
          <p:cNvSpPr>
            <a:spLocks noGrp="1"/>
          </p:cNvSpPr>
          <p:nvPr/>
        </p:nvSpPr>
        <p:spPr>
          <a:xfrm>
            <a:off x="685800" y="2209800"/>
            <a:ext cx="4667250" cy="2428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slide  </a:t>
            </a:r>
            <a:r>
              <a: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/slaɪd/</a:t>
            </a:r>
            <a:endParaRPr sz="525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538"/>
          <p:cNvSpPr>
            <a:spLocks noGrp="1"/>
          </p:cNvSpPr>
          <p:nvPr/>
        </p:nvSpPr>
        <p:spPr>
          <a:xfrm>
            <a:off x="5905500" y="186690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slide：滑动。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539"/>
          <p:cNvSpPr>
            <a:spLocks noGrp="1"/>
          </p:cNvSpPr>
          <p:nvPr/>
        </p:nvSpPr>
        <p:spPr>
          <a:xfrm>
            <a:off x="5905500" y="3171825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一边正确朗读，一边做平滑移动的动作。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540"/>
          <p:cNvSpPr>
            <a:spLocks noGrp="1"/>
          </p:cNvSpPr>
          <p:nvPr/>
        </p:nvSpPr>
        <p:spPr>
          <a:xfrm>
            <a:off x="5905500" y="447675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box slides across the floor.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541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观察 sl- 的例词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542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 /  06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543"/>
          <p:cNvSpPr>
            <a:spLocks noGrp="1"/>
          </p:cNvSpPr>
          <p:nvPr/>
        </p:nvSpPr>
        <p:spPr>
          <a:xfrm>
            <a:off x="723900" y="1619250"/>
            <a:ext cx="106680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8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8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slide    slip    slow</a:t>
            </a:r>
            <a:endParaRPr sz="48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544"/>
          <p:cNvSpPr>
            <a:spLocks noGrp="1"/>
          </p:cNvSpPr>
          <p:nvPr/>
        </p:nvSpPr>
        <p:spPr>
          <a:xfrm>
            <a:off x="723900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slide：滑动。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545"/>
          <p:cNvSpPr>
            <a:spLocks noGrp="1"/>
          </p:cNvSpPr>
          <p:nvPr/>
        </p:nvSpPr>
        <p:spPr>
          <a:xfrm>
            <a:off x="4429125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slip：滑倒，也可指滑动。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546"/>
          <p:cNvSpPr>
            <a:spLocks noGrp="1"/>
          </p:cNvSpPr>
          <p:nvPr/>
        </p:nvSpPr>
        <p:spPr>
          <a:xfrm>
            <a:off x="8134350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slow：慢的、慢慢地。
这些词可共享“滑、慢”的记忆画面。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547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反例让联想更可靠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548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 /  07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549"/>
          <p:cNvSpPr>
            <a:spLocks noGrp="1"/>
          </p:cNvSpPr>
          <p:nvPr/>
        </p:nvSpPr>
        <p:spPr>
          <a:xfrm>
            <a:off x="685800" y="2209800"/>
            <a:ext cx="4667250" cy="2428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sleep   </a:t>
            </a:r>
            <a:r>
              <a: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/sliːp/</a:t>
            </a:r>
            <a:endParaRPr sz="525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550"/>
          <p:cNvSpPr>
            <a:spLocks noGrp="1"/>
          </p:cNvSpPr>
          <p:nvPr/>
        </p:nvSpPr>
        <p:spPr>
          <a:xfrm>
            <a:off x="5905500" y="186690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sleep：睡觉。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551"/>
          <p:cNvSpPr>
            <a:spLocks noGrp="1"/>
          </p:cNvSpPr>
          <p:nvPr/>
        </p:nvSpPr>
        <p:spPr>
          <a:xfrm>
            <a:off x="5905500" y="3171825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它也以 sl- 开头，
却不表示“滑动”。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552"/>
          <p:cNvSpPr>
            <a:spLocks noGrp="1"/>
          </p:cNvSpPr>
          <p:nvPr/>
        </p:nvSpPr>
        <p:spPr>
          <a:xfrm>
            <a:off x="5905500" y="447675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遇到新词，不能仅凭开头猜定意思。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553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另一组声音联想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554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 /  08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555"/>
          <p:cNvSpPr>
            <a:spLocks noGrp="1"/>
          </p:cNvSpPr>
          <p:nvPr/>
        </p:nvSpPr>
        <p:spPr>
          <a:xfrm>
            <a:off x="685800" y="2209800"/>
            <a:ext cx="4667250" cy="2428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glow    glitter</a:t>
            </a:r>
            <a:endParaRPr sz="525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556"/>
          <p:cNvSpPr>
            <a:spLocks noGrp="1"/>
          </p:cNvSpPr>
          <p:nvPr/>
        </p:nvSpPr>
        <p:spPr>
          <a:xfrm>
            <a:off x="5905500" y="186690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glow：发光。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557"/>
          <p:cNvSpPr>
            <a:spLocks noGrp="1"/>
          </p:cNvSpPr>
          <p:nvPr/>
        </p:nvSpPr>
        <p:spPr>
          <a:xfrm>
            <a:off x="5905500" y="3171825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glitter：闪光、闪耀。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558"/>
          <p:cNvSpPr>
            <a:spLocks noGrp="1"/>
          </p:cNvSpPr>
          <p:nvPr/>
        </p:nvSpPr>
        <p:spPr>
          <a:xfrm>
            <a:off x="5905500" y="447675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可以想象灯光，
帮助把声音和意义连起来。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ext-559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课堂讨论：哪个推断太强？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560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 /  09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561"/>
          <p:cNvSpPr>
            <a:spLocks noGrp="1"/>
          </p:cNvSpPr>
          <p:nvPr/>
        </p:nvSpPr>
        <p:spPr>
          <a:xfrm>
            <a:off x="723900" y="1638300"/>
            <a:ext cx="106680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glad    </a:t>
            </a:r>
            <a:r>
              <a: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/ɡlæd/</a:t>
            </a:r>
            <a:endParaRPr sz="42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562"/>
          <p:cNvSpPr>
            <a:spLocks noGrp="1"/>
          </p:cNvSpPr>
          <p:nvPr/>
        </p:nvSpPr>
        <p:spPr>
          <a:xfrm>
            <a:off x="742950" y="29527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563"/>
          <p:cNvSpPr>
            <a:spLocks noGrp="1"/>
          </p:cNvSpPr>
          <p:nvPr/>
        </p:nvSpPr>
        <p:spPr>
          <a:xfrm>
            <a:off x="1666875" y="29432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“glow 让我想到一盏灯。”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564"/>
          <p:cNvSpPr>
            <a:spLocks noGrp="1"/>
          </p:cNvSpPr>
          <p:nvPr/>
        </p:nvSpPr>
        <p:spPr>
          <a:xfrm>
            <a:off x="742950" y="39433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565"/>
          <p:cNvSpPr>
            <a:spLocks noGrp="1"/>
          </p:cNvSpPr>
          <p:nvPr/>
        </p:nvSpPr>
        <p:spPr>
          <a:xfrm>
            <a:off x="1666875" y="39338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“glitter 也可以用闪光画面来记。”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566"/>
          <p:cNvSpPr>
            <a:spLocks noGrp="1"/>
          </p:cNvSpPr>
          <p:nvPr/>
        </p:nvSpPr>
        <p:spPr>
          <a:xfrm>
            <a:off x="742950" y="49339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567"/>
          <p:cNvSpPr>
            <a:spLocks noGrp="1"/>
          </p:cNvSpPr>
          <p:nvPr/>
        </p:nvSpPr>
        <p:spPr>
          <a:xfrm>
            <a:off x="1666875" y="49244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“glad 一定是发光，因为开头是 gl-。”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ext-568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讨论答案：联想不能替代释义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569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 /  10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570"/>
          <p:cNvSpPr>
            <a:spLocks noGrp="1"/>
          </p:cNvSpPr>
          <p:nvPr/>
        </p:nvSpPr>
        <p:spPr>
          <a:xfrm>
            <a:off x="723900" y="1638300"/>
            <a:ext cx="106680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glad = 高兴的</a:t>
            </a:r>
            <a:endParaRPr sz="42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571"/>
          <p:cNvSpPr>
            <a:spLocks noGrp="1"/>
          </p:cNvSpPr>
          <p:nvPr/>
        </p:nvSpPr>
        <p:spPr>
          <a:xfrm>
            <a:off x="742950" y="29527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572"/>
          <p:cNvSpPr>
            <a:spLocks noGrp="1"/>
          </p:cNvSpPr>
          <p:nvPr/>
        </p:nvSpPr>
        <p:spPr>
          <a:xfrm>
            <a:off x="1666875" y="29432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同样以 gl- 开头，词义未必相同。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573"/>
          <p:cNvSpPr>
            <a:spLocks noGrp="1"/>
          </p:cNvSpPr>
          <p:nvPr/>
        </p:nvSpPr>
        <p:spPr>
          <a:xfrm>
            <a:off x="742950" y="39433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574"/>
          <p:cNvSpPr>
            <a:spLocks noGrp="1"/>
          </p:cNvSpPr>
          <p:nvPr/>
        </p:nvSpPr>
        <p:spPr>
          <a:xfrm>
            <a:off x="1666875" y="39338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记忆提示可因人而异。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575"/>
          <p:cNvSpPr>
            <a:spLocks noGrp="1"/>
          </p:cNvSpPr>
          <p:nvPr/>
        </p:nvSpPr>
        <p:spPr>
          <a:xfrm>
            <a:off x="742950" y="49339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576"/>
          <p:cNvSpPr>
            <a:spLocks noGrp="1"/>
          </p:cNvSpPr>
          <p:nvPr/>
        </p:nvSpPr>
        <p:spPr>
          <a:xfrm>
            <a:off x="1666875" y="49244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使用前仍要确认词典义项、搭配和语境。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577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字形联想：可以从形状入手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578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 /  11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579"/>
          <p:cNvSpPr>
            <a:spLocks noGrp="1"/>
          </p:cNvSpPr>
          <p:nvPr/>
        </p:nvSpPr>
        <p:spPr>
          <a:xfrm>
            <a:off x="685800" y="2209800"/>
            <a:ext cx="4667250" cy="2428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     wave</a:t>
            </a:r>
            <a:endParaRPr sz="525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580"/>
          <p:cNvSpPr>
            <a:spLocks noGrp="1"/>
          </p:cNvSpPr>
          <p:nvPr/>
        </p:nvSpPr>
        <p:spPr>
          <a:xfrm>
            <a:off x="5905500" y="186690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 的形状容易让人想到波浪。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581"/>
          <p:cNvSpPr>
            <a:spLocks noGrp="1"/>
          </p:cNvSpPr>
          <p:nvPr/>
        </p:nvSpPr>
        <p:spPr>
          <a:xfrm>
            <a:off x="5905500" y="3171825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wave 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/weɪv/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：波浪，也可作动词“挥手”。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582"/>
          <p:cNvSpPr>
            <a:spLocks noGrp="1"/>
          </p:cNvSpPr>
          <p:nvPr/>
        </p:nvSpPr>
        <p:spPr>
          <a:xfrm>
            <a:off x="5905500" y="447675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在句子里确定这次学的是哪个义项。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583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同一个 wave 的两种情景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584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 /  12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585"/>
          <p:cNvSpPr>
            <a:spLocks noGrp="1"/>
          </p:cNvSpPr>
          <p:nvPr/>
        </p:nvSpPr>
        <p:spPr>
          <a:xfrm>
            <a:off x="723900" y="1619250"/>
            <a:ext cx="106680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8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8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wave</a:t>
            </a:r>
            <a:endParaRPr sz="48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586"/>
          <p:cNvSpPr>
            <a:spLocks noGrp="1"/>
          </p:cNvSpPr>
          <p:nvPr/>
        </p:nvSpPr>
        <p:spPr>
          <a:xfrm>
            <a:off x="723900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海边：a big wave。
名词，一道大浪。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587"/>
          <p:cNvSpPr>
            <a:spLocks noGrp="1"/>
          </p:cNvSpPr>
          <p:nvPr/>
        </p:nvSpPr>
        <p:spPr>
          <a:xfrm>
            <a:off x="4429125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告别：wave goodbye。
动词，挥手告别。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588"/>
          <p:cNvSpPr>
            <a:spLocks noGrp="1"/>
          </p:cNvSpPr>
          <p:nvPr/>
        </p:nvSpPr>
        <p:spPr>
          <a:xfrm>
            <a:off x="8134350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同一个词可以有多个相关义项。
记录常用搭配。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589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辅音相近不代表可以互换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590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 /  13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591"/>
          <p:cNvSpPr>
            <a:spLocks noGrp="1"/>
          </p:cNvSpPr>
          <p:nvPr/>
        </p:nvSpPr>
        <p:spPr>
          <a:xfrm>
            <a:off x="685800" y="2209800"/>
            <a:ext cx="4667250" cy="2428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pat       bat</a:t>
            </a:r>
            <a:endParaRPr sz="525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592"/>
          <p:cNvSpPr>
            <a:spLocks noGrp="1"/>
          </p:cNvSpPr>
          <p:nvPr/>
        </p:nvSpPr>
        <p:spPr>
          <a:xfrm>
            <a:off x="5905500" y="186690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pat 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/pæt/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与 bat 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/bæt/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593"/>
          <p:cNvSpPr>
            <a:spLocks noGrp="1"/>
          </p:cNvSpPr>
          <p:nvPr/>
        </p:nvSpPr>
        <p:spPr>
          <a:xfrm>
            <a:off x="5905500" y="3171825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/p/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与 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/b/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发音位置相近，清浊不同。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594"/>
          <p:cNvSpPr>
            <a:spLocks noGrp="1"/>
          </p:cNvSpPr>
          <p:nvPr/>
        </p:nvSpPr>
        <p:spPr>
          <a:xfrm>
            <a:off x="5905500" y="447675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换一个音，就可能变成另一个词。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595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词族变化需要分别学习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596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 /  14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597"/>
          <p:cNvSpPr>
            <a:spLocks noGrp="1"/>
          </p:cNvSpPr>
          <p:nvPr/>
        </p:nvSpPr>
        <p:spPr>
          <a:xfrm>
            <a:off x="723900" y="1619250"/>
            <a:ext cx="106680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8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8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begin   began   begun</a:t>
            </a:r>
            <a:endParaRPr sz="48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598"/>
          <p:cNvSpPr>
            <a:spLocks noGrp="1"/>
          </p:cNvSpPr>
          <p:nvPr/>
        </p:nvSpPr>
        <p:spPr>
          <a:xfrm>
            <a:off x="723900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begin：原形 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/bɪˈɡɪn/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599"/>
          <p:cNvSpPr>
            <a:spLocks noGrp="1"/>
          </p:cNvSpPr>
          <p:nvPr/>
        </p:nvSpPr>
        <p:spPr>
          <a:xfrm>
            <a:off x="4429125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began：过去式 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/bɪˈɡæn/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600"/>
          <p:cNvSpPr>
            <a:spLocks noGrp="1"/>
          </p:cNvSpPr>
          <p:nvPr/>
        </p:nvSpPr>
        <p:spPr>
          <a:xfrm>
            <a:off x="8134350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begun：过去分词 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/bɪˈɡʌn/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
相同辅音帮助联记，元音仍要读准。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ext-601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一份可检验的联想记录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602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 /  15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603"/>
          <p:cNvSpPr>
            <a:spLocks noGrp="1"/>
          </p:cNvSpPr>
          <p:nvPr/>
        </p:nvSpPr>
        <p:spPr>
          <a:xfrm>
            <a:off x="723900" y="1638300"/>
            <a:ext cx="106680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slide</a:t>
            </a:r>
            <a:endParaRPr sz="315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604"/>
          <p:cNvSpPr>
            <a:spLocks noGrp="1"/>
          </p:cNvSpPr>
          <p:nvPr/>
        </p:nvSpPr>
        <p:spPr>
          <a:xfrm>
            <a:off x="742950" y="29527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605"/>
          <p:cNvSpPr>
            <a:spLocks noGrp="1"/>
          </p:cNvSpPr>
          <p:nvPr/>
        </p:nvSpPr>
        <p:spPr>
          <a:xfrm>
            <a:off x="1666875" y="29432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事实：读音 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/slaɪd/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，有“滑动”这一义项。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606"/>
          <p:cNvSpPr>
            <a:spLocks noGrp="1"/>
          </p:cNvSpPr>
          <p:nvPr/>
        </p:nvSpPr>
        <p:spPr>
          <a:xfrm>
            <a:off x="742950" y="39433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607"/>
          <p:cNvSpPr>
            <a:spLocks noGrp="1"/>
          </p:cNvSpPr>
          <p:nvPr/>
        </p:nvSpPr>
        <p:spPr>
          <a:xfrm>
            <a:off x="1666875" y="39338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个人提示：手掌平滑移过桌面。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608"/>
          <p:cNvSpPr>
            <a:spLocks noGrp="1"/>
          </p:cNvSpPr>
          <p:nvPr/>
        </p:nvSpPr>
        <p:spPr>
          <a:xfrm>
            <a:off x="742950" y="49339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609"/>
          <p:cNvSpPr>
            <a:spLocks noGrp="1"/>
          </p:cNvSpPr>
          <p:nvPr/>
        </p:nvSpPr>
        <p:spPr>
          <a:xfrm>
            <a:off x="1666875" y="49244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语境：The box slides.
回忆：不用提示也能读、写和用。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ext-610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两人活动：设计并检验联想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611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 /  16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612"/>
          <p:cNvSpPr>
            <a:spLocks noGrp="1"/>
          </p:cNvSpPr>
          <p:nvPr/>
        </p:nvSpPr>
        <p:spPr>
          <a:xfrm>
            <a:off x="723900" y="1638300"/>
            <a:ext cx="106680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wave 或 slide</a:t>
            </a:r>
            <a:endParaRPr sz="42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613"/>
          <p:cNvSpPr>
            <a:spLocks noGrp="1"/>
          </p:cNvSpPr>
          <p:nvPr/>
        </p:nvSpPr>
        <p:spPr>
          <a:xfrm>
            <a:off x="742950" y="29527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614"/>
          <p:cNvSpPr>
            <a:spLocks noGrp="1"/>
          </p:cNvSpPr>
          <p:nvPr/>
        </p:nvSpPr>
        <p:spPr>
          <a:xfrm>
            <a:off x="1666875" y="29432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选择一个词，确认读音与一个义项。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615"/>
          <p:cNvSpPr>
            <a:spLocks noGrp="1"/>
          </p:cNvSpPr>
          <p:nvPr/>
        </p:nvSpPr>
        <p:spPr>
          <a:xfrm>
            <a:off x="742950" y="39433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616"/>
          <p:cNvSpPr>
            <a:spLocks noGrp="1"/>
          </p:cNvSpPr>
          <p:nvPr/>
        </p:nvSpPr>
        <p:spPr>
          <a:xfrm>
            <a:off x="1666875" y="39338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设计一个动作或字形提示，教给同伴。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617"/>
          <p:cNvSpPr>
            <a:spLocks noGrp="1"/>
          </p:cNvSpPr>
          <p:nvPr/>
        </p:nvSpPr>
        <p:spPr>
          <a:xfrm>
            <a:off x="742950" y="49339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618"/>
          <p:cNvSpPr>
            <a:spLocks noGrp="1"/>
          </p:cNvSpPr>
          <p:nvPr/>
        </p:nvSpPr>
        <p:spPr>
          <a:xfrm>
            <a:off x="1666875" y="49244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同伴用一句话说明词义，
并指出提示不能用于哪些情况。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ext-619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活动评价与本课小结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620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 /  17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621"/>
          <p:cNvSpPr>
            <a:spLocks noGrp="1"/>
          </p:cNvSpPr>
          <p:nvPr/>
        </p:nvSpPr>
        <p:spPr>
          <a:xfrm>
            <a:off x="723900" y="1638300"/>
            <a:ext cx="106680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准确性先于故事好不好听</a:t>
            </a:r>
            <a:endParaRPr sz="42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622"/>
          <p:cNvSpPr>
            <a:spLocks noGrp="1"/>
          </p:cNvSpPr>
          <p:nvPr/>
        </p:nvSpPr>
        <p:spPr>
          <a:xfrm>
            <a:off x="742950" y="29527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623"/>
          <p:cNvSpPr>
            <a:spLocks noGrp="1"/>
          </p:cNvSpPr>
          <p:nvPr/>
        </p:nvSpPr>
        <p:spPr>
          <a:xfrm>
            <a:off x="1666875" y="29432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读音与拼写正确：基本要求。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624"/>
          <p:cNvSpPr>
            <a:spLocks noGrp="1"/>
          </p:cNvSpPr>
          <p:nvPr/>
        </p:nvSpPr>
        <p:spPr>
          <a:xfrm>
            <a:off x="742950" y="39433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625"/>
          <p:cNvSpPr>
            <a:spLocks noGrp="1"/>
          </p:cNvSpPr>
          <p:nvPr/>
        </p:nvSpPr>
        <p:spPr>
          <a:xfrm>
            <a:off x="1666875" y="39338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词义与句子相符：使用要求。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626"/>
          <p:cNvSpPr>
            <a:spLocks noGrp="1"/>
          </p:cNvSpPr>
          <p:nvPr/>
        </p:nvSpPr>
        <p:spPr>
          <a:xfrm>
            <a:off x="742950" y="49339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627"/>
          <p:cNvSpPr>
            <a:spLocks noGrp="1"/>
          </p:cNvSpPr>
          <p:nvPr/>
        </p:nvSpPr>
        <p:spPr>
          <a:xfrm>
            <a:off x="1666875" y="49244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联想能帮助回忆且不产生误解：
符合这三项，就值得保留。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5E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628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课后任务与下一课</a:t>
            </a:r>
            <a:endParaRPr sz="3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629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 /  18</a:t>
            </a:r>
            <a:endParaRPr sz="1425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630"/>
          <p:cNvSpPr>
            <a:spLocks noGrp="1"/>
          </p:cNvSpPr>
          <p:nvPr/>
        </p:nvSpPr>
        <p:spPr>
          <a:xfrm>
            <a:off x="723900" y="1752600"/>
            <a:ext cx="104775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050" b="1">
                <a:solidFill>
                  <a:srgbClr val="F5D7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50" b="1">
                <a:solidFill>
                  <a:srgbClr val="F5D7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留下有效的个人提示</a:t>
            </a:r>
            <a:endParaRPr sz="4050" b="1">
              <a:solidFill>
                <a:srgbClr val="F5D7A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631"/>
          <p:cNvSpPr>
            <a:spLocks noGrp="1"/>
          </p:cNvSpPr>
          <p:nvPr/>
        </p:nvSpPr>
        <p:spPr>
          <a:xfrm>
            <a:off x="742950" y="3000375"/>
            <a:ext cx="104775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 3 个已学词补充动作或画面联想。</a:t>
            </a:r>
            <a:endParaRPr sz="22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632"/>
          <p:cNvSpPr>
            <a:spLocks noGrp="1"/>
          </p:cNvSpPr>
          <p:nvPr/>
        </p:nvSpPr>
        <p:spPr>
          <a:xfrm>
            <a:off x="742950" y="3962400"/>
            <a:ext cx="104775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隔天遮住提示，检查能否回忆完整词。</a:t>
            </a:r>
            <a:endParaRPr sz="22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633"/>
          <p:cNvSpPr>
            <a:spLocks noGrp="1"/>
          </p:cNvSpPr>
          <p:nvPr/>
        </p:nvSpPr>
        <p:spPr>
          <a:xfrm>
            <a:off x="742950" y="4924425"/>
            <a:ext cx="104775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下一课：把所有方法用于独立学习。</a:t>
            </a:r>
            <a:endParaRPr sz="22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1569</Words>
  <Application>WPS 演示</Application>
  <PresentationFormat>Converted Presentation</PresentationFormat>
  <Paragraphs>247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Threadman</cp:lastModifiedBy>
  <cp:revision>1</cp:revision>
  <dcterms:created xsi:type="dcterms:W3CDTF">2026-09-19T12:30:01Z</dcterms:created>
  <dcterms:modified xsi:type="dcterms:W3CDTF">2026-09-19T12:30:01Z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B48D6F9AA4284B558157B99250E25A89</vt:lpwstr>
  </property>
  <property fmtid="{D5CDD505-2E9C-101B-9397-08002B2CF9AE}" pid="3" name="KSOProductBuildVer">
    <vt:lpwstr>2052-11.8.2.12265</vt:lpwstr>
  </property>
</Properties>
</file>